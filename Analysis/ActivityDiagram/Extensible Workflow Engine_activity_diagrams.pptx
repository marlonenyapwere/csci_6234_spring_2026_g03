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embeddedFontLst>
    <p:embeddedFont>
      <p:font typeface="Liter" panose="020B0604020202020204" charset="0"/>
      <p:regular r:id="rId12"/>
    </p:embeddedFont>
    <p:embeddedFont>
      <p:font typeface="Quattrocento Sans" panose="020B0502050000020003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77F248-7BF6-5D89-98A9-9FB664CED107}" v="667" dt="2026-02-26T18:06:22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14D73-787B-4219-89DE-F50A822FFD48}" type="datetimeFigureOut"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049CD-314F-4E58-8323-3729F0D7D3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61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28308-155E-2A53-BB1D-BE3E30484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C89BD-267A-5701-FA86-0FAE97C27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8E10AA-73AF-9844-B1F2-E5736E90B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5FE28-EBB6-E0AC-4FDD-F8613EF48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50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59A87-74C0-FD3C-9F67-900B5491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F1DDE-1F55-C2AC-AC33-62653F311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AFCE4-D536-DCA2-B98A-88C69B5BF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8B96F-15E2-881C-872B-C3F4C75B6D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8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B0B30-57A4-68D9-435C-DD33B74C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11216-A55F-0C42-5A64-D5DCC94E4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3F422-3F5E-198D-18B5-59F6A5BA3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49B5D-CC46-78DB-58A2-70BA4DDFA8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54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3D3C2-E8DE-E3AB-F9E8-F5DF4DD0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7E976-6A40-9494-60C0-C8324C8FE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51A26-A287-0073-9090-0F2999332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C31C-821D-2623-5096-2443514E55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30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FCFF3-F2A8-A117-9580-9352FCBC3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2EBD0-5FD6-EB17-FFDF-1B4AFCD06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712CE-89AA-EAD3-C054-B07687C04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F44ED-CA80-59AE-0799-DA7909EB1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25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6D92D-1541-79F7-776A-BB611478E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CAEED1-35AE-9DE3-85A8-EBE633891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558BB-89F2-59B5-2AEF-331D19EC0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1582B-4012-B451-6BB3-8CEEA87B6E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74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85783aed929504e3a19d5dc6194a790b821703b4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821" b="8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C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1971675" cy="352425"/>
          </a:xfrm>
          <a:custGeom>
            <a:avLst/>
            <a:gdLst/>
            <a:ahLst/>
            <a:cxnLst/>
            <a:rect l="l" t="t" r="r" b="b"/>
            <a:pathLst>
              <a:path w="1971675" h="352425">
                <a:moveTo>
                  <a:pt x="76201" y="0"/>
                </a:moveTo>
                <a:lnTo>
                  <a:pt x="1895474" y="0"/>
                </a:lnTo>
                <a:cubicBezTo>
                  <a:pt x="1937559" y="0"/>
                  <a:pt x="1971675" y="34116"/>
                  <a:pt x="1971675" y="76201"/>
                </a:cubicBezTo>
                <a:lnTo>
                  <a:pt x="1971675" y="276224"/>
                </a:lnTo>
                <a:cubicBezTo>
                  <a:pt x="1971675" y="318309"/>
                  <a:pt x="1937559" y="352425"/>
                  <a:pt x="1895474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38B6AB">
              <a:alpha val="20000"/>
            </a:srgbClr>
          </a:solidFill>
          <a:ln w="12700">
            <a:solidFill>
              <a:srgbClr val="38B6AB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466725"/>
            <a:ext cx="17232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>
                <a:solidFill>
                  <a:srgbClr val="38B6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Backend System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381000" y="12001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Extensible</a:t>
            </a:r>
            <a:endParaRPr lang="en-US" sz="1600"/>
          </a:p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38B6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Engine</a:t>
            </a:r>
            <a:endParaRPr lang="en-US" sz="1600"/>
          </a:p>
        </p:txBody>
      </p:sp>
      <p:sp>
        <p:nvSpPr>
          <p:cNvPr id="7" name="Shape 4"/>
          <p:cNvSpPr/>
          <p:nvPr/>
        </p:nvSpPr>
        <p:spPr>
          <a:xfrm>
            <a:off x="381000" y="31432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431066"/>
            <a:ext cx="6515100" cy="1247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>
                <a:solidFill>
                  <a:srgbClr val="7D8A9B"/>
                </a:solidFill>
                <a:latin typeface="Quattrocento Sans"/>
              </a:rPr>
              <a:t>Marlone </a:t>
            </a:r>
            <a:r>
              <a:rPr lang="en-US" sz="3200" err="1">
                <a:solidFill>
                  <a:srgbClr val="7D8A9B"/>
                </a:solidFill>
                <a:latin typeface="Quattrocento Sans"/>
              </a:rPr>
              <a:t>Nyapwere</a:t>
            </a:r>
            <a:endParaRPr lang="en-US" sz="3200">
              <a:solidFill>
                <a:srgbClr val="7D8A9B"/>
              </a:solidFill>
              <a:latin typeface="Quattrocento Sans"/>
            </a:endParaRPr>
          </a:p>
          <a:p>
            <a:pPr>
              <a:lnSpc>
                <a:spcPct val="140000"/>
              </a:lnSpc>
            </a:pPr>
            <a:r>
              <a:rPr lang="en-US" sz="3200">
                <a:solidFill>
                  <a:srgbClr val="7D8A9B"/>
                </a:solidFill>
                <a:latin typeface="Quattrocento Sans"/>
              </a:rPr>
              <a:t>Group #3</a:t>
            </a:r>
          </a:p>
        </p:txBody>
      </p:sp>
      <p:sp>
        <p:nvSpPr>
          <p:cNvPr id="9" name="Shape 6"/>
          <p:cNvSpPr/>
          <p:nvPr/>
        </p:nvSpPr>
        <p:spPr>
          <a:xfrm>
            <a:off x="392906" y="62674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10" name="Text 7"/>
          <p:cNvSpPr/>
          <p:nvPr/>
        </p:nvSpPr>
        <p:spPr>
          <a:xfrm>
            <a:off x="733425" y="624840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Implementation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2414290" y="626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12" name="Text 9"/>
          <p:cNvSpPr/>
          <p:nvPr/>
        </p:nvSpPr>
        <p:spPr>
          <a:xfrm>
            <a:off x="2742902" y="624840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UML-Based Design</a:t>
            </a:r>
            <a:endParaRPr lang="en-US" sz="1600"/>
          </a:p>
        </p:txBody>
      </p:sp>
      <p:sp>
        <p:nvSpPr>
          <p:cNvPr id="13" name="Shape 10"/>
          <p:cNvSpPr/>
          <p:nvPr/>
        </p:nvSpPr>
        <p:spPr>
          <a:xfrm>
            <a:off x="4309467" y="62674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14" name="Text 11"/>
          <p:cNvSpPr/>
          <p:nvPr/>
        </p:nvSpPr>
        <p:spPr>
          <a:xfrm>
            <a:off x="4661892" y="624840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Plugin Architecture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8"/>
            <a:ext cx="1151569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kern="0" spc="51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02 / Project Foundation</a:t>
            </a:r>
            <a:endParaRPr lang="en-US" sz="1000">
              <a:latin typeface="Liter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0578" y="629982"/>
            <a:ext cx="11617605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75210" y="1116365"/>
            <a:ext cx="6781568" cy="2232729"/>
          </a:xfrm>
          <a:custGeom>
            <a:avLst/>
            <a:gdLst/>
            <a:ahLst/>
            <a:cxnLst/>
            <a:rect l="l" t="t" r="r" b="b"/>
            <a:pathLst>
              <a:path w="6781568" h="2232729">
                <a:moveTo>
                  <a:pt x="74127" y="0"/>
                </a:moveTo>
                <a:lnTo>
                  <a:pt x="6707442" y="0"/>
                </a:lnTo>
                <a:cubicBezTo>
                  <a:pt x="6748381" y="0"/>
                  <a:pt x="6781568" y="33188"/>
                  <a:pt x="6781568" y="74127"/>
                </a:cubicBezTo>
                <a:lnTo>
                  <a:pt x="6781568" y="2158603"/>
                </a:lnTo>
                <a:cubicBezTo>
                  <a:pt x="6781568" y="2199542"/>
                  <a:pt x="6748381" y="2232729"/>
                  <a:pt x="6707442" y="2232729"/>
                </a:cubicBezTo>
                <a:lnTo>
                  <a:pt x="74127" y="2232729"/>
                </a:lnTo>
                <a:cubicBezTo>
                  <a:pt x="33188" y="2232729"/>
                  <a:pt x="0" y="2199542"/>
                  <a:pt x="0" y="2158603"/>
                </a:cubicBezTo>
                <a:lnTo>
                  <a:pt x="0" y="74127"/>
                </a:lnTo>
                <a:cubicBezTo>
                  <a:pt x="0" y="33215"/>
                  <a:pt x="33215" y="0"/>
                  <a:pt x="7412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1234" y="1306286"/>
            <a:ext cx="185289" cy="185289"/>
          </a:xfrm>
          <a:custGeom>
            <a:avLst/>
            <a:gdLst/>
            <a:ahLst/>
            <a:cxnLst/>
            <a:rect l="l" t="t" r="r" b="b"/>
            <a:pathLst>
              <a:path w="185289" h="185289">
                <a:moveTo>
                  <a:pt x="162128" y="92644"/>
                </a:moveTo>
                <a:cubicBezTo>
                  <a:pt x="162128" y="54296"/>
                  <a:pt x="130993" y="23161"/>
                  <a:pt x="92644" y="23161"/>
                </a:cubicBezTo>
                <a:cubicBezTo>
                  <a:pt x="54296" y="23161"/>
                  <a:pt x="23161" y="54296"/>
                  <a:pt x="23161" y="92644"/>
                </a:cubicBezTo>
                <a:cubicBezTo>
                  <a:pt x="23161" y="130993"/>
                  <a:pt x="54296" y="162128"/>
                  <a:pt x="92644" y="162128"/>
                </a:cubicBezTo>
                <a:cubicBezTo>
                  <a:pt x="130993" y="162128"/>
                  <a:pt x="162128" y="130993"/>
                  <a:pt x="162128" y="92644"/>
                </a:cubicBezTo>
                <a:close/>
                <a:moveTo>
                  <a:pt x="0" y="92644"/>
                </a:moveTo>
                <a:cubicBezTo>
                  <a:pt x="0" y="41513"/>
                  <a:pt x="41513" y="0"/>
                  <a:pt x="92644" y="0"/>
                </a:cubicBezTo>
                <a:cubicBezTo>
                  <a:pt x="143776" y="0"/>
                  <a:pt x="185289" y="41513"/>
                  <a:pt x="185289" y="92644"/>
                </a:cubicBezTo>
                <a:cubicBezTo>
                  <a:pt x="185289" y="143776"/>
                  <a:pt x="143776" y="185289"/>
                  <a:pt x="92644" y="185289"/>
                </a:cubicBezTo>
                <a:cubicBezTo>
                  <a:pt x="41513" y="185289"/>
                  <a:pt x="0" y="143776"/>
                  <a:pt x="0" y="92644"/>
                </a:cubicBezTo>
                <a:close/>
                <a:moveTo>
                  <a:pt x="92644" y="121596"/>
                </a:moveTo>
                <a:cubicBezTo>
                  <a:pt x="108623" y="121596"/>
                  <a:pt x="121596" y="108623"/>
                  <a:pt x="121596" y="92644"/>
                </a:cubicBezTo>
                <a:cubicBezTo>
                  <a:pt x="121596" y="76666"/>
                  <a:pt x="108623" y="63693"/>
                  <a:pt x="92644" y="63693"/>
                </a:cubicBezTo>
                <a:cubicBezTo>
                  <a:pt x="76666" y="63693"/>
                  <a:pt x="63693" y="76666"/>
                  <a:pt x="63693" y="92644"/>
                </a:cubicBezTo>
                <a:cubicBezTo>
                  <a:pt x="63693" y="108623"/>
                  <a:pt x="76666" y="121596"/>
                  <a:pt x="92644" y="121596"/>
                </a:cubicBezTo>
                <a:close/>
                <a:moveTo>
                  <a:pt x="92644" y="40532"/>
                </a:moveTo>
                <a:cubicBezTo>
                  <a:pt x="121406" y="40532"/>
                  <a:pt x="144757" y="63883"/>
                  <a:pt x="144757" y="92644"/>
                </a:cubicBezTo>
                <a:cubicBezTo>
                  <a:pt x="144757" y="121406"/>
                  <a:pt x="121406" y="144757"/>
                  <a:pt x="92644" y="144757"/>
                </a:cubicBezTo>
                <a:cubicBezTo>
                  <a:pt x="63883" y="144757"/>
                  <a:pt x="40532" y="121406"/>
                  <a:pt x="40532" y="92644"/>
                </a:cubicBezTo>
                <a:cubicBezTo>
                  <a:pt x="40532" y="63883"/>
                  <a:pt x="63883" y="40532"/>
                  <a:pt x="92644" y="40532"/>
                </a:cubicBezTo>
                <a:close/>
                <a:moveTo>
                  <a:pt x="81064" y="92644"/>
                </a:moveTo>
                <a:cubicBezTo>
                  <a:pt x="81064" y="86253"/>
                  <a:pt x="86253" y="81064"/>
                  <a:pt x="92644" y="81064"/>
                </a:cubicBezTo>
                <a:cubicBezTo>
                  <a:pt x="99036" y="81064"/>
                  <a:pt x="104225" y="86253"/>
                  <a:pt x="104225" y="92644"/>
                </a:cubicBezTo>
                <a:cubicBezTo>
                  <a:pt x="104225" y="99036"/>
                  <a:pt x="99036" y="104225"/>
                  <a:pt x="92644" y="104225"/>
                </a:cubicBezTo>
                <a:cubicBezTo>
                  <a:pt x="86253" y="104225"/>
                  <a:pt x="81064" y="99036"/>
                  <a:pt x="81064" y="92644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6" name="Text 4"/>
          <p:cNvSpPr/>
          <p:nvPr/>
        </p:nvSpPr>
        <p:spPr>
          <a:xfrm>
            <a:off x="759684" y="1269228"/>
            <a:ext cx="633687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>
                <a:solidFill>
                  <a:srgbClr val="38B6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Description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28073" y="1639805"/>
            <a:ext cx="6549957" cy="96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rgbClr val="E0E6EB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This project develops an </a:t>
            </a:r>
            <a:r>
              <a:rPr lang="en-US" sz="1150" b="1">
                <a:solidFill>
                  <a:srgbClr val="38B6AB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extensible backend workflow engine</a:t>
            </a:r>
            <a:r>
              <a:rPr lang="en-US" sz="1150">
                <a:solidFill>
                  <a:srgbClr val="E0E6EB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 that models and executes business processes using object-oriented analysis and design techniques. A workflow is represented as a </a:t>
            </a:r>
            <a:r>
              <a:rPr lang="en-US" sz="1150" b="1">
                <a:solidFill>
                  <a:srgbClr val="38B6AB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sequence of steps connected by conditional transitions</a:t>
            </a:r>
            <a:r>
              <a:rPr lang="en-US" sz="1150">
                <a:solidFill>
                  <a:srgbClr val="E0E6EB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, enabling dynamic execution paths based on runtime data.</a:t>
            </a:r>
            <a:endParaRPr lang="en-US" sz="1600">
              <a:latin typeface="Quattrocento Sans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8073" y="2714480"/>
            <a:ext cx="6549957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separates </a:t>
            </a:r>
            <a:r>
              <a:rPr lang="en-US" sz="1167" b="1">
                <a:solidFill>
                  <a:srgbClr val="E0E6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definition from execution</a:t>
            </a: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allowing new workflows and step types to be added without modifying the core engine—achieving true extensibility through clean architecture.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375210" y="3469532"/>
            <a:ext cx="3335198" cy="1158055"/>
          </a:xfrm>
          <a:custGeom>
            <a:avLst/>
            <a:gdLst/>
            <a:ahLst/>
            <a:cxnLst/>
            <a:rect l="l" t="t" r="r" b="b"/>
            <a:pathLst>
              <a:path w="3335198" h="1158055">
                <a:moveTo>
                  <a:pt x="74116" y="0"/>
                </a:moveTo>
                <a:lnTo>
                  <a:pt x="3261082" y="0"/>
                </a:lnTo>
                <a:cubicBezTo>
                  <a:pt x="3302015" y="0"/>
                  <a:pt x="3335198" y="33183"/>
                  <a:pt x="3335198" y="74116"/>
                </a:cubicBezTo>
                <a:lnTo>
                  <a:pt x="3335198" y="1083939"/>
                </a:lnTo>
                <a:cubicBezTo>
                  <a:pt x="3335198" y="1124872"/>
                  <a:pt x="3302015" y="1158055"/>
                  <a:pt x="3261082" y="1158055"/>
                </a:cubicBezTo>
                <a:lnTo>
                  <a:pt x="74116" y="1158055"/>
                </a:lnTo>
                <a:cubicBezTo>
                  <a:pt x="33183" y="1158055"/>
                  <a:pt x="0" y="1124872"/>
                  <a:pt x="0" y="1083939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38B6AB">
              <a:alpha val="10196"/>
            </a:srgbClr>
          </a:solidFill>
          <a:ln w="12700">
            <a:solidFill>
              <a:srgbClr val="38B6AB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5866" y="3640924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100968" y="2258"/>
                </a:moveTo>
                <a:cubicBezTo>
                  <a:pt x="107439" y="-738"/>
                  <a:pt x="114908" y="-738"/>
                  <a:pt x="121379" y="2258"/>
                </a:cubicBezTo>
                <a:lnTo>
                  <a:pt x="216310" y="46120"/>
                </a:lnTo>
                <a:cubicBezTo>
                  <a:pt x="220001" y="47813"/>
                  <a:pt x="222347" y="51504"/>
                  <a:pt x="222347" y="55587"/>
                </a:cubicBezTo>
                <a:cubicBezTo>
                  <a:pt x="222347" y="59669"/>
                  <a:pt x="220001" y="63360"/>
                  <a:pt x="216310" y="65054"/>
                </a:cubicBezTo>
                <a:lnTo>
                  <a:pt x="121379" y="108915"/>
                </a:lnTo>
                <a:cubicBezTo>
                  <a:pt x="114908" y="111912"/>
                  <a:pt x="107439" y="111912"/>
                  <a:pt x="100968" y="108915"/>
                </a:cubicBezTo>
                <a:lnTo>
                  <a:pt x="6036" y="65054"/>
                </a:lnTo>
                <a:cubicBezTo>
                  <a:pt x="2345" y="63317"/>
                  <a:pt x="0" y="59625"/>
                  <a:pt x="0" y="55587"/>
                </a:cubicBezTo>
                <a:cubicBezTo>
                  <a:pt x="0" y="51548"/>
                  <a:pt x="2345" y="47813"/>
                  <a:pt x="6036" y="46120"/>
                </a:cubicBezTo>
                <a:lnTo>
                  <a:pt x="100968" y="2258"/>
                </a:lnTo>
                <a:close/>
                <a:moveTo>
                  <a:pt x="20888" y="94845"/>
                </a:moveTo>
                <a:lnTo>
                  <a:pt x="92239" y="127806"/>
                </a:lnTo>
                <a:cubicBezTo>
                  <a:pt x="104268" y="133364"/>
                  <a:pt x="118122" y="133364"/>
                  <a:pt x="130151" y="127806"/>
                </a:cubicBezTo>
                <a:lnTo>
                  <a:pt x="201502" y="94845"/>
                </a:lnTo>
                <a:lnTo>
                  <a:pt x="216310" y="101706"/>
                </a:lnTo>
                <a:cubicBezTo>
                  <a:pt x="220001" y="103400"/>
                  <a:pt x="222347" y="107091"/>
                  <a:pt x="222347" y="111173"/>
                </a:cubicBezTo>
                <a:cubicBezTo>
                  <a:pt x="222347" y="115255"/>
                  <a:pt x="220001" y="118947"/>
                  <a:pt x="216310" y="120640"/>
                </a:cubicBezTo>
                <a:lnTo>
                  <a:pt x="121379" y="164502"/>
                </a:lnTo>
                <a:cubicBezTo>
                  <a:pt x="114908" y="167498"/>
                  <a:pt x="107439" y="167498"/>
                  <a:pt x="100968" y="164502"/>
                </a:cubicBezTo>
                <a:lnTo>
                  <a:pt x="6036" y="120640"/>
                </a:lnTo>
                <a:cubicBezTo>
                  <a:pt x="2345" y="118903"/>
                  <a:pt x="0" y="115212"/>
                  <a:pt x="0" y="111173"/>
                </a:cubicBezTo>
                <a:cubicBezTo>
                  <a:pt x="0" y="107135"/>
                  <a:pt x="2345" y="103400"/>
                  <a:pt x="6036" y="101706"/>
                </a:cubicBezTo>
                <a:lnTo>
                  <a:pt x="20845" y="94845"/>
                </a:lnTo>
                <a:close/>
                <a:moveTo>
                  <a:pt x="6036" y="157293"/>
                </a:moveTo>
                <a:lnTo>
                  <a:pt x="20845" y="150431"/>
                </a:lnTo>
                <a:lnTo>
                  <a:pt x="92196" y="183392"/>
                </a:lnTo>
                <a:cubicBezTo>
                  <a:pt x="104225" y="188951"/>
                  <a:pt x="118078" y="188951"/>
                  <a:pt x="130107" y="183392"/>
                </a:cubicBezTo>
                <a:lnTo>
                  <a:pt x="201458" y="150431"/>
                </a:lnTo>
                <a:lnTo>
                  <a:pt x="216267" y="157293"/>
                </a:lnTo>
                <a:cubicBezTo>
                  <a:pt x="219958" y="158986"/>
                  <a:pt x="222303" y="162678"/>
                  <a:pt x="222303" y="166760"/>
                </a:cubicBezTo>
                <a:cubicBezTo>
                  <a:pt x="222303" y="170842"/>
                  <a:pt x="219958" y="174533"/>
                  <a:pt x="216267" y="176227"/>
                </a:cubicBezTo>
                <a:lnTo>
                  <a:pt x="121335" y="220088"/>
                </a:lnTo>
                <a:cubicBezTo>
                  <a:pt x="114865" y="223085"/>
                  <a:pt x="107395" y="223085"/>
                  <a:pt x="100924" y="220088"/>
                </a:cubicBezTo>
                <a:lnTo>
                  <a:pt x="6036" y="176227"/>
                </a:lnTo>
                <a:cubicBezTo>
                  <a:pt x="2345" y="174490"/>
                  <a:pt x="0" y="170799"/>
                  <a:pt x="0" y="166760"/>
                </a:cubicBezTo>
                <a:cubicBezTo>
                  <a:pt x="0" y="162721"/>
                  <a:pt x="2345" y="158986"/>
                  <a:pt x="6036" y="157293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11" name="Text 9"/>
          <p:cNvSpPr/>
          <p:nvPr/>
        </p:nvSpPr>
        <p:spPr>
          <a:xfrm>
            <a:off x="917179" y="3622395"/>
            <a:ext cx="1111733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Principle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528073" y="3992973"/>
            <a:ext cx="3103587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Separation of concerns between definition, execution, and extension layers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3827660" y="3469532"/>
            <a:ext cx="3335198" cy="1158055"/>
          </a:xfrm>
          <a:custGeom>
            <a:avLst/>
            <a:gdLst/>
            <a:ahLst/>
            <a:cxnLst/>
            <a:rect l="l" t="t" r="r" b="b"/>
            <a:pathLst>
              <a:path w="3335198" h="1158055">
                <a:moveTo>
                  <a:pt x="74116" y="0"/>
                </a:moveTo>
                <a:lnTo>
                  <a:pt x="3261082" y="0"/>
                </a:lnTo>
                <a:cubicBezTo>
                  <a:pt x="3302015" y="0"/>
                  <a:pt x="3335198" y="33183"/>
                  <a:pt x="3335198" y="74116"/>
                </a:cubicBezTo>
                <a:lnTo>
                  <a:pt x="3335198" y="1083939"/>
                </a:lnTo>
                <a:cubicBezTo>
                  <a:pt x="3335198" y="1124872"/>
                  <a:pt x="3302015" y="1158055"/>
                  <a:pt x="3261082" y="1158055"/>
                </a:cubicBezTo>
                <a:lnTo>
                  <a:pt x="74116" y="1158055"/>
                </a:lnTo>
                <a:cubicBezTo>
                  <a:pt x="33183" y="1158055"/>
                  <a:pt x="0" y="1124872"/>
                  <a:pt x="0" y="1083939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38B6AB">
              <a:alpha val="10196"/>
            </a:srgbClr>
          </a:solidFill>
          <a:ln w="12700">
            <a:solidFill>
              <a:srgbClr val="38B6AB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08317" y="3640924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83380" y="27793"/>
                </a:moveTo>
                <a:cubicBezTo>
                  <a:pt x="83380" y="20107"/>
                  <a:pt x="89590" y="13897"/>
                  <a:pt x="97277" y="13897"/>
                </a:cubicBezTo>
                <a:lnTo>
                  <a:pt x="125070" y="13897"/>
                </a:lnTo>
                <a:cubicBezTo>
                  <a:pt x="132756" y="13897"/>
                  <a:pt x="138967" y="20107"/>
                  <a:pt x="138967" y="27793"/>
                </a:cubicBezTo>
                <a:lnTo>
                  <a:pt x="138967" y="55587"/>
                </a:lnTo>
                <a:cubicBezTo>
                  <a:pt x="138967" y="63273"/>
                  <a:pt x="132756" y="69483"/>
                  <a:pt x="125070" y="69483"/>
                </a:cubicBezTo>
                <a:lnTo>
                  <a:pt x="121596" y="69483"/>
                </a:lnTo>
                <a:lnTo>
                  <a:pt x="121596" y="97277"/>
                </a:lnTo>
                <a:lnTo>
                  <a:pt x="173708" y="97277"/>
                </a:lnTo>
                <a:cubicBezTo>
                  <a:pt x="190992" y="97277"/>
                  <a:pt x="204976" y="111260"/>
                  <a:pt x="204976" y="128544"/>
                </a:cubicBezTo>
                <a:lnTo>
                  <a:pt x="204976" y="152863"/>
                </a:lnTo>
                <a:lnTo>
                  <a:pt x="208450" y="152863"/>
                </a:lnTo>
                <a:cubicBezTo>
                  <a:pt x="216136" y="152863"/>
                  <a:pt x="222347" y="159073"/>
                  <a:pt x="222347" y="166760"/>
                </a:cubicBezTo>
                <a:lnTo>
                  <a:pt x="222347" y="194553"/>
                </a:lnTo>
                <a:cubicBezTo>
                  <a:pt x="222347" y="202240"/>
                  <a:pt x="216136" y="208450"/>
                  <a:pt x="208450" y="208450"/>
                </a:cubicBezTo>
                <a:lnTo>
                  <a:pt x="180657" y="208450"/>
                </a:lnTo>
                <a:cubicBezTo>
                  <a:pt x="172970" y="208450"/>
                  <a:pt x="166760" y="202240"/>
                  <a:pt x="166760" y="194553"/>
                </a:cubicBezTo>
                <a:lnTo>
                  <a:pt x="166760" y="166760"/>
                </a:lnTo>
                <a:cubicBezTo>
                  <a:pt x="166760" y="159073"/>
                  <a:pt x="172970" y="152863"/>
                  <a:pt x="180657" y="152863"/>
                </a:cubicBezTo>
                <a:lnTo>
                  <a:pt x="184131" y="152863"/>
                </a:lnTo>
                <a:lnTo>
                  <a:pt x="184131" y="128544"/>
                </a:lnTo>
                <a:cubicBezTo>
                  <a:pt x="184131" y="122768"/>
                  <a:pt x="179484" y="118122"/>
                  <a:pt x="173708" y="118122"/>
                </a:cubicBezTo>
                <a:lnTo>
                  <a:pt x="121596" y="118122"/>
                </a:lnTo>
                <a:lnTo>
                  <a:pt x="121596" y="152863"/>
                </a:lnTo>
                <a:lnTo>
                  <a:pt x="125070" y="152863"/>
                </a:lnTo>
                <a:cubicBezTo>
                  <a:pt x="132756" y="152863"/>
                  <a:pt x="138967" y="159073"/>
                  <a:pt x="138967" y="166760"/>
                </a:cubicBezTo>
                <a:lnTo>
                  <a:pt x="138967" y="194553"/>
                </a:lnTo>
                <a:cubicBezTo>
                  <a:pt x="138967" y="202240"/>
                  <a:pt x="132756" y="208450"/>
                  <a:pt x="125070" y="208450"/>
                </a:cubicBezTo>
                <a:lnTo>
                  <a:pt x="97277" y="208450"/>
                </a:lnTo>
                <a:cubicBezTo>
                  <a:pt x="89590" y="208450"/>
                  <a:pt x="83380" y="202240"/>
                  <a:pt x="83380" y="194553"/>
                </a:cubicBezTo>
                <a:lnTo>
                  <a:pt x="83380" y="166760"/>
                </a:lnTo>
                <a:cubicBezTo>
                  <a:pt x="83380" y="159073"/>
                  <a:pt x="89590" y="152863"/>
                  <a:pt x="97277" y="152863"/>
                </a:cubicBezTo>
                <a:lnTo>
                  <a:pt x="100751" y="152863"/>
                </a:lnTo>
                <a:lnTo>
                  <a:pt x="100751" y="118122"/>
                </a:lnTo>
                <a:lnTo>
                  <a:pt x="48638" y="118122"/>
                </a:lnTo>
                <a:cubicBezTo>
                  <a:pt x="42863" y="118122"/>
                  <a:pt x="38216" y="122768"/>
                  <a:pt x="38216" y="128544"/>
                </a:cubicBezTo>
                <a:lnTo>
                  <a:pt x="38216" y="152863"/>
                </a:lnTo>
                <a:lnTo>
                  <a:pt x="41690" y="152863"/>
                </a:lnTo>
                <a:cubicBezTo>
                  <a:pt x="49377" y="152863"/>
                  <a:pt x="55587" y="159073"/>
                  <a:pt x="55587" y="166760"/>
                </a:cubicBezTo>
                <a:lnTo>
                  <a:pt x="55587" y="194553"/>
                </a:lnTo>
                <a:cubicBezTo>
                  <a:pt x="55587" y="202240"/>
                  <a:pt x="49377" y="208450"/>
                  <a:pt x="41690" y="208450"/>
                </a:cubicBezTo>
                <a:lnTo>
                  <a:pt x="13897" y="208450"/>
                </a:lnTo>
                <a:cubicBezTo>
                  <a:pt x="6210" y="208450"/>
                  <a:pt x="0" y="202240"/>
                  <a:pt x="0" y="194553"/>
                </a:cubicBezTo>
                <a:lnTo>
                  <a:pt x="0" y="166760"/>
                </a:lnTo>
                <a:cubicBezTo>
                  <a:pt x="0" y="159073"/>
                  <a:pt x="6210" y="152863"/>
                  <a:pt x="13897" y="152863"/>
                </a:cubicBezTo>
                <a:lnTo>
                  <a:pt x="17371" y="152863"/>
                </a:lnTo>
                <a:lnTo>
                  <a:pt x="17371" y="128544"/>
                </a:lnTo>
                <a:cubicBezTo>
                  <a:pt x="17371" y="111260"/>
                  <a:pt x="31354" y="97277"/>
                  <a:pt x="48638" y="97277"/>
                </a:cubicBezTo>
                <a:lnTo>
                  <a:pt x="100751" y="97277"/>
                </a:lnTo>
                <a:lnTo>
                  <a:pt x="100751" y="69483"/>
                </a:lnTo>
                <a:lnTo>
                  <a:pt x="97277" y="69483"/>
                </a:lnTo>
                <a:cubicBezTo>
                  <a:pt x="89590" y="69483"/>
                  <a:pt x="83380" y="63273"/>
                  <a:pt x="83380" y="55587"/>
                </a:cubicBezTo>
                <a:lnTo>
                  <a:pt x="83380" y="27793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15" name="Text 13"/>
          <p:cNvSpPr/>
          <p:nvPr/>
        </p:nvSpPr>
        <p:spPr>
          <a:xfrm>
            <a:off x="4369630" y="3622395"/>
            <a:ext cx="135260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Approach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3980524" y="3992973"/>
            <a:ext cx="3103587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UML-based analysis with use cases, robustness analysis, and detailed design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375210" y="4748024"/>
            <a:ext cx="6781568" cy="1491574"/>
          </a:xfrm>
          <a:custGeom>
            <a:avLst/>
            <a:gdLst/>
            <a:ahLst/>
            <a:cxnLst/>
            <a:rect l="l" t="t" r="r" b="b"/>
            <a:pathLst>
              <a:path w="6781568" h="1491574">
                <a:moveTo>
                  <a:pt x="74116" y="0"/>
                </a:moveTo>
                <a:lnTo>
                  <a:pt x="6707452" y="0"/>
                </a:lnTo>
                <a:cubicBezTo>
                  <a:pt x="6748385" y="0"/>
                  <a:pt x="6781568" y="33183"/>
                  <a:pt x="6781568" y="74116"/>
                </a:cubicBezTo>
                <a:lnTo>
                  <a:pt x="6781568" y="1417458"/>
                </a:lnTo>
                <a:cubicBezTo>
                  <a:pt x="6781568" y="1458391"/>
                  <a:pt x="6748385" y="1491574"/>
                  <a:pt x="6707452" y="1491574"/>
                </a:cubicBezTo>
                <a:lnTo>
                  <a:pt x="74116" y="1491574"/>
                </a:lnTo>
                <a:cubicBezTo>
                  <a:pt x="33183" y="1491574"/>
                  <a:pt x="0" y="1458391"/>
                  <a:pt x="0" y="1417458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1234" y="4947210"/>
            <a:ext cx="166760" cy="166760"/>
          </a:xfrm>
          <a:custGeom>
            <a:avLst/>
            <a:gdLst/>
            <a:ahLst/>
            <a:cxnLst/>
            <a:rect l="l" t="t" r="r" b="b"/>
            <a:pathLst>
              <a:path w="166760" h="166760">
                <a:moveTo>
                  <a:pt x="83380" y="166760"/>
                </a:moveTo>
                <a:cubicBezTo>
                  <a:pt x="129399" y="166760"/>
                  <a:pt x="166760" y="129399"/>
                  <a:pt x="166760" y="83380"/>
                </a:cubicBezTo>
                <a:cubicBezTo>
                  <a:pt x="166760" y="37361"/>
                  <a:pt x="129399" y="0"/>
                  <a:pt x="83380" y="0"/>
                </a:cubicBezTo>
                <a:cubicBezTo>
                  <a:pt x="37361" y="0"/>
                  <a:pt x="0" y="37361"/>
                  <a:pt x="0" y="83380"/>
                </a:cubicBezTo>
                <a:cubicBezTo>
                  <a:pt x="0" y="129399"/>
                  <a:pt x="37361" y="166760"/>
                  <a:pt x="83380" y="166760"/>
                </a:cubicBezTo>
                <a:close/>
                <a:moveTo>
                  <a:pt x="110869" y="69277"/>
                </a:moveTo>
                <a:lnTo>
                  <a:pt x="84813" y="110967"/>
                </a:lnTo>
                <a:cubicBezTo>
                  <a:pt x="83445" y="113149"/>
                  <a:pt x="81100" y="114517"/>
                  <a:pt x="78527" y="114647"/>
                </a:cubicBezTo>
                <a:cubicBezTo>
                  <a:pt x="75954" y="114778"/>
                  <a:pt x="73479" y="113605"/>
                  <a:pt x="71948" y="111521"/>
                </a:cubicBezTo>
                <a:lnTo>
                  <a:pt x="56314" y="90676"/>
                </a:lnTo>
                <a:cubicBezTo>
                  <a:pt x="53708" y="87223"/>
                  <a:pt x="54425" y="82338"/>
                  <a:pt x="57877" y="79732"/>
                </a:cubicBezTo>
                <a:cubicBezTo>
                  <a:pt x="61330" y="77126"/>
                  <a:pt x="66215" y="77843"/>
                  <a:pt x="68821" y="81295"/>
                </a:cubicBezTo>
                <a:lnTo>
                  <a:pt x="77615" y="93021"/>
                </a:lnTo>
                <a:lnTo>
                  <a:pt x="97613" y="61004"/>
                </a:lnTo>
                <a:cubicBezTo>
                  <a:pt x="99893" y="57356"/>
                  <a:pt x="104713" y="56216"/>
                  <a:pt x="108394" y="58529"/>
                </a:cubicBezTo>
                <a:cubicBezTo>
                  <a:pt x="112074" y="60841"/>
                  <a:pt x="113182" y="65629"/>
                  <a:pt x="110869" y="69310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19" name="Text 17"/>
          <p:cNvSpPr/>
          <p:nvPr/>
        </p:nvSpPr>
        <p:spPr>
          <a:xfrm>
            <a:off x="741155" y="4900888"/>
            <a:ext cx="6346140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Objectives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583660" y="5308523"/>
            <a:ext cx="74116" cy="148231"/>
          </a:xfrm>
          <a:custGeom>
            <a:avLst/>
            <a:gdLst/>
            <a:ahLst/>
            <a:cxnLst/>
            <a:rect l="l" t="t" r="r" b="b"/>
            <a:pathLst>
              <a:path w="74116" h="148231">
                <a:moveTo>
                  <a:pt x="9409" y="27793"/>
                </a:moveTo>
                <a:cubicBezTo>
                  <a:pt x="9409" y="24059"/>
                  <a:pt x="11667" y="20671"/>
                  <a:pt x="15142" y="19224"/>
                </a:cubicBezTo>
                <a:cubicBezTo>
                  <a:pt x="18616" y="17776"/>
                  <a:pt x="22582" y="18587"/>
                  <a:pt x="25217" y="21250"/>
                </a:cubicBezTo>
                <a:lnTo>
                  <a:pt x="71539" y="67572"/>
                </a:lnTo>
                <a:cubicBezTo>
                  <a:pt x="75158" y="71191"/>
                  <a:pt x="75158" y="77069"/>
                  <a:pt x="71539" y="80687"/>
                </a:cubicBezTo>
                <a:lnTo>
                  <a:pt x="25217" y="127010"/>
                </a:lnTo>
                <a:cubicBezTo>
                  <a:pt x="22553" y="129673"/>
                  <a:pt x="18587" y="130455"/>
                  <a:pt x="15113" y="129007"/>
                </a:cubicBezTo>
                <a:cubicBezTo>
                  <a:pt x="11638" y="127560"/>
                  <a:pt x="9409" y="124172"/>
                  <a:pt x="9409" y="120438"/>
                </a:cubicBezTo>
                <a:lnTo>
                  <a:pt x="9409" y="27793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1" name="Text 19"/>
          <p:cNvSpPr/>
          <p:nvPr/>
        </p:nvSpPr>
        <p:spPr>
          <a:xfrm>
            <a:off x="787477" y="5271465"/>
            <a:ext cx="232537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runtime workflow definition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3897144" y="5308523"/>
            <a:ext cx="74116" cy="148231"/>
          </a:xfrm>
          <a:custGeom>
            <a:avLst/>
            <a:gdLst/>
            <a:ahLst/>
            <a:cxnLst/>
            <a:rect l="l" t="t" r="r" b="b"/>
            <a:pathLst>
              <a:path w="74116" h="148231">
                <a:moveTo>
                  <a:pt x="9409" y="27793"/>
                </a:moveTo>
                <a:cubicBezTo>
                  <a:pt x="9409" y="24059"/>
                  <a:pt x="11667" y="20671"/>
                  <a:pt x="15142" y="19224"/>
                </a:cubicBezTo>
                <a:cubicBezTo>
                  <a:pt x="18616" y="17776"/>
                  <a:pt x="22582" y="18587"/>
                  <a:pt x="25217" y="21250"/>
                </a:cubicBezTo>
                <a:lnTo>
                  <a:pt x="71539" y="67572"/>
                </a:lnTo>
                <a:cubicBezTo>
                  <a:pt x="75158" y="71191"/>
                  <a:pt x="75158" y="77069"/>
                  <a:pt x="71539" y="80687"/>
                </a:cubicBezTo>
                <a:lnTo>
                  <a:pt x="25217" y="127010"/>
                </a:lnTo>
                <a:cubicBezTo>
                  <a:pt x="22553" y="129673"/>
                  <a:pt x="18587" y="130455"/>
                  <a:pt x="15113" y="129007"/>
                </a:cubicBezTo>
                <a:cubicBezTo>
                  <a:pt x="11638" y="127560"/>
                  <a:pt x="9409" y="124172"/>
                  <a:pt x="9409" y="120438"/>
                </a:cubicBezTo>
                <a:lnTo>
                  <a:pt x="9409" y="27793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3" name="Text 21"/>
          <p:cNvSpPr/>
          <p:nvPr/>
        </p:nvSpPr>
        <p:spPr>
          <a:xfrm>
            <a:off x="4100961" y="5271465"/>
            <a:ext cx="239948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 execution state persistence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583660" y="5604985"/>
            <a:ext cx="74116" cy="148231"/>
          </a:xfrm>
          <a:custGeom>
            <a:avLst/>
            <a:gdLst/>
            <a:ahLst/>
            <a:cxnLst/>
            <a:rect l="l" t="t" r="r" b="b"/>
            <a:pathLst>
              <a:path w="74116" h="148231">
                <a:moveTo>
                  <a:pt x="9409" y="27793"/>
                </a:moveTo>
                <a:cubicBezTo>
                  <a:pt x="9409" y="24059"/>
                  <a:pt x="11667" y="20671"/>
                  <a:pt x="15142" y="19224"/>
                </a:cubicBezTo>
                <a:cubicBezTo>
                  <a:pt x="18616" y="17776"/>
                  <a:pt x="22582" y="18587"/>
                  <a:pt x="25217" y="21250"/>
                </a:cubicBezTo>
                <a:lnTo>
                  <a:pt x="71539" y="67572"/>
                </a:lnTo>
                <a:cubicBezTo>
                  <a:pt x="75158" y="71191"/>
                  <a:pt x="75158" y="77069"/>
                  <a:pt x="71539" y="80687"/>
                </a:cubicBezTo>
                <a:lnTo>
                  <a:pt x="25217" y="127010"/>
                </a:lnTo>
                <a:cubicBezTo>
                  <a:pt x="22553" y="129673"/>
                  <a:pt x="18587" y="130455"/>
                  <a:pt x="15113" y="129007"/>
                </a:cubicBezTo>
                <a:cubicBezTo>
                  <a:pt x="11638" y="127560"/>
                  <a:pt x="9409" y="124172"/>
                  <a:pt x="9409" y="120438"/>
                </a:cubicBezTo>
                <a:lnTo>
                  <a:pt x="9409" y="27793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5" name="Text 23"/>
          <p:cNvSpPr/>
          <p:nvPr/>
        </p:nvSpPr>
        <p:spPr>
          <a:xfrm>
            <a:off x="787477" y="5567927"/>
            <a:ext cx="2343903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conditional branching logic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3897144" y="5604985"/>
            <a:ext cx="74116" cy="148231"/>
          </a:xfrm>
          <a:custGeom>
            <a:avLst/>
            <a:gdLst/>
            <a:ahLst/>
            <a:cxnLst/>
            <a:rect l="l" t="t" r="r" b="b"/>
            <a:pathLst>
              <a:path w="74116" h="148231">
                <a:moveTo>
                  <a:pt x="9409" y="27793"/>
                </a:moveTo>
                <a:cubicBezTo>
                  <a:pt x="9409" y="24059"/>
                  <a:pt x="11667" y="20671"/>
                  <a:pt x="15142" y="19224"/>
                </a:cubicBezTo>
                <a:cubicBezTo>
                  <a:pt x="18616" y="17776"/>
                  <a:pt x="22582" y="18587"/>
                  <a:pt x="25217" y="21250"/>
                </a:cubicBezTo>
                <a:lnTo>
                  <a:pt x="71539" y="67572"/>
                </a:lnTo>
                <a:cubicBezTo>
                  <a:pt x="75158" y="71191"/>
                  <a:pt x="75158" y="77069"/>
                  <a:pt x="71539" y="80687"/>
                </a:cubicBezTo>
                <a:lnTo>
                  <a:pt x="25217" y="127010"/>
                </a:lnTo>
                <a:cubicBezTo>
                  <a:pt x="22553" y="129673"/>
                  <a:pt x="18587" y="130455"/>
                  <a:pt x="15113" y="129007"/>
                </a:cubicBezTo>
                <a:cubicBezTo>
                  <a:pt x="11638" y="127560"/>
                  <a:pt x="9409" y="124172"/>
                  <a:pt x="9409" y="120438"/>
                </a:cubicBezTo>
                <a:lnTo>
                  <a:pt x="9409" y="27793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7" name="Text 25"/>
          <p:cNvSpPr/>
          <p:nvPr/>
        </p:nvSpPr>
        <p:spPr>
          <a:xfrm>
            <a:off x="4100961" y="5567927"/>
            <a:ext cx="225125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plugin-based extensibility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583660" y="5901447"/>
            <a:ext cx="74116" cy="148231"/>
          </a:xfrm>
          <a:custGeom>
            <a:avLst/>
            <a:gdLst/>
            <a:ahLst/>
            <a:cxnLst/>
            <a:rect l="l" t="t" r="r" b="b"/>
            <a:pathLst>
              <a:path w="74116" h="148231">
                <a:moveTo>
                  <a:pt x="9409" y="27793"/>
                </a:moveTo>
                <a:cubicBezTo>
                  <a:pt x="9409" y="24059"/>
                  <a:pt x="11667" y="20671"/>
                  <a:pt x="15142" y="19224"/>
                </a:cubicBezTo>
                <a:cubicBezTo>
                  <a:pt x="18616" y="17776"/>
                  <a:pt x="22582" y="18587"/>
                  <a:pt x="25217" y="21250"/>
                </a:cubicBezTo>
                <a:lnTo>
                  <a:pt x="71539" y="67572"/>
                </a:lnTo>
                <a:cubicBezTo>
                  <a:pt x="75158" y="71191"/>
                  <a:pt x="75158" y="77069"/>
                  <a:pt x="71539" y="80687"/>
                </a:cubicBezTo>
                <a:lnTo>
                  <a:pt x="25217" y="127010"/>
                </a:lnTo>
                <a:cubicBezTo>
                  <a:pt x="22553" y="129673"/>
                  <a:pt x="18587" y="130455"/>
                  <a:pt x="15113" y="129007"/>
                </a:cubicBezTo>
                <a:cubicBezTo>
                  <a:pt x="11638" y="127560"/>
                  <a:pt x="9409" y="124172"/>
                  <a:pt x="9409" y="120438"/>
                </a:cubicBezTo>
                <a:lnTo>
                  <a:pt x="9409" y="27793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9" name="Text 27"/>
          <p:cNvSpPr/>
          <p:nvPr/>
        </p:nvSpPr>
        <p:spPr>
          <a:xfrm>
            <a:off x="787477" y="5864389"/>
            <a:ext cx="239022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errors and failures gracefully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3897144" y="5901447"/>
            <a:ext cx="74116" cy="148231"/>
          </a:xfrm>
          <a:custGeom>
            <a:avLst/>
            <a:gdLst/>
            <a:ahLst/>
            <a:cxnLst/>
            <a:rect l="l" t="t" r="r" b="b"/>
            <a:pathLst>
              <a:path w="74116" h="148231">
                <a:moveTo>
                  <a:pt x="9409" y="27793"/>
                </a:moveTo>
                <a:cubicBezTo>
                  <a:pt x="9409" y="24059"/>
                  <a:pt x="11667" y="20671"/>
                  <a:pt x="15142" y="19224"/>
                </a:cubicBezTo>
                <a:cubicBezTo>
                  <a:pt x="18616" y="17776"/>
                  <a:pt x="22582" y="18587"/>
                  <a:pt x="25217" y="21250"/>
                </a:cubicBezTo>
                <a:lnTo>
                  <a:pt x="71539" y="67572"/>
                </a:lnTo>
                <a:cubicBezTo>
                  <a:pt x="75158" y="71191"/>
                  <a:pt x="75158" y="77069"/>
                  <a:pt x="71539" y="80687"/>
                </a:cubicBezTo>
                <a:lnTo>
                  <a:pt x="25217" y="127010"/>
                </a:lnTo>
                <a:cubicBezTo>
                  <a:pt x="22553" y="129673"/>
                  <a:pt x="18587" y="130455"/>
                  <a:pt x="15113" y="129007"/>
                </a:cubicBezTo>
                <a:cubicBezTo>
                  <a:pt x="11638" y="127560"/>
                  <a:pt x="9409" y="124172"/>
                  <a:pt x="9409" y="120438"/>
                </a:cubicBezTo>
                <a:lnTo>
                  <a:pt x="9409" y="27793"/>
                </a:ln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31" name="Text 29"/>
          <p:cNvSpPr/>
          <p:nvPr/>
        </p:nvSpPr>
        <p:spPr>
          <a:xfrm>
            <a:off x="4100961" y="5864389"/>
            <a:ext cx="1871416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 functional prototype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7354371" y="1116365"/>
            <a:ext cx="4456195" cy="2825653"/>
          </a:xfrm>
          <a:custGeom>
            <a:avLst/>
            <a:gdLst/>
            <a:ahLst/>
            <a:cxnLst/>
            <a:rect l="l" t="t" r="r" b="b"/>
            <a:pathLst>
              <a:path w="4456195" h="2825653">
                <a:moveTo>
                  <a:pt x="74117" y="0"/>
                </a:moveTo>
                <a:lnTo>
                  <a:pt x="4382078" y="0"/>
                </a:lnTo>
                <a:cubicBezTo>
                  <a:pt x="4423011" y="0"/>
                  <a:pt x="4456195" y="33183"/>
                  <a:pt x="4456195" y="74117"/>
                </a:cubicBezTo>
                <a:lnTo>
                  <a:pt x="4456195" y="2751537"/>
                </a:lnTo>
                <a:cubicBezTo>
                  <a:pt x="4456195" y="2792470"/>
                  <a:pt x="4423011" y="2825653"/>
                  <a:pt x="4382078" y="2825653"/>
                </a:cubicBezTo>
                <a:lnTo>
                  <a:pt x="74117" y="2825653"/>
                </a:lnTo>
                <a:cubicBezTo>
                  <a:pt x="33183" y="2825653"/>
                  <a:pt x="0" y="2792470"/>
                  <a:pt x="0" y="2751537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38B6AB">
                  <a:alpha val="10000"/>
                </a:srgbClr>
              </a:gs>
            </a:gsLst>
            <a:lin ang="2700000" scaled="1"/>
          </a:gradFill>
          <a:ln w="12700">
            <a:solidFill>
              <a:srgbClr val="38B6AB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65544" y="1269228"/>
            <a:ext cx="423384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3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/>
          </a:p>
        </p:txBody>
      </p:sp>
      <p:sp>
        <p:nvSpPr>
          <p:cNvPr id="34" name="Shape 32"/>
          <p:cNvSpPr/>
          <p:nvPr/>
        </p:nvSpPr>
        <p:spPr>
          <a:xfrm>
            <a:off x="7507234" y="1676863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74117" y="0"/>
                </a:moveTo>
                <a:lnTo>
                  <a:pt x="370576" y="0"/>
                </a:lnTo>
                <a:cubicBezTo>
                  <a:pt x="411482" y="0"/>
                  <a:pt x="444693" y="33211"/>
                  <a:pt x="444693" y="74117"/>
                </a:cubicBezTo>
                <a:lnTo>
                  <a:pt x="444693" y="370576"/>
                </a:lnTo>
                <a:cubicBezTo>
                  <a:pt x="444693" y="411482"/>
                  <a:pt x="411482" y="444693"/>
                  <a:pt x="370576" y="444693"/>
                </a:cubicBezTo>
                <a:lnTo>
                  <a:pt x="74117" y="444693"/>
                </a:lnTo>
                <a:cubicBezTo>
                  <a:pt x="33211" y="444693"/>
                  <a:pt x="0" y="411482"/>
                  <a:pt x="0" y="37057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38B6AB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646201" y="1788036"/>
            <a:ext cx="166760" cy="222347"/>
          </a:xfrm>
          <a:custGeom>
            <a:avLst/>
            <a:gdLst/>
            <a:ahLst/>
            <a:cxnLst/>
            <a:rect l="l" t="t" r="r" b="b"/>
            <a:pathLst>
              <a:path w="166760" h="222347">
                <a:moveTo>
                  <a:pt x="120640" y="135883"/>
                </a:moveTo>
                <a:cubicBezTo>
                  <a:pt x="124896" y="132974"/>
                  <a:pt x="130802" y="130455"/>
                  <a:pt x="130802" y="130455"/>
                </a:cubicBezTo>
                <a:cubicBezTo>
                  <a:pt x="130802" y="130455"/>
                  <a:pt x="113996" y="133495"/>
                  <a:pt x="97277" y="134884"/>
                </a:cubicBezTo>
                <a:cubicBezTo>
                  <a:pt x="76822" y="136578"/>
                  <a:pt x="54848" y="136925"/>
                  <a:pt x="43818" y="135449"/>
                </a:cubicBezTo>
                <a:cubicBezTo>
                  <a:pt x="17718" y="131975"/>
                  <a:pt x="58149" y="122377"/>
                  <a:pt x="58149" y="122377"/>
                </a:cubicBezTo>
                <a:cubicBezTo>
                  <a:pt x="58149" y="122377"/>
                  <a:pt x="42472" y="121335"/>
                  <a:pt x="23147" y="130629"/>
                </a:cubicBezTo>
                <a:cubicBezTo>
                  <a:pt x="347" y="141659"/>
                  <a:pt x="79602" y="146697"/>
                  <a:pt x="120640" y="135883"/>
                </a:cubicBezTo>
                <a:close/>
                <a:moveTo>
                  <a:pt x="83554" y="121943"/>
                </a:moveTo>
                <a:cubicBezTo>
                  <a:pt x="75303" y="103400"/>
                  <a:pt x="47466" y="87115"/>
                  <a:pt x="83554" y="58627"/>
                </a:cubicBezTo>
                <a:cubicBezTo>
                  <a:pt x="128588" y="23103"/>
                  <a:pt x="105484" y="0"/>
                  <a:pt x="105484" y="0"/>
                </a:cubicBezTo>
                <a:cubicBezTo>
                  <a:pt x="114821" y="36696"/>
                  <a:pt x="72653" y="47813"/>
                  <a:pt x="57411" y="70612"/>
                </a:cubicBezTo>
                <a:cubicBezTo>
                  <a:pt x="47031" y="86203"/>
                  <a:pt x="62492" y="102922"/>
                  <a:pt x="83554" y="121943"/>
                </a:cubicBezTo>
                <a:close/>
                <a:moveTo>
                  <a:pt x="133321" y="45425"/>
                </a:moveTo>
                <a:cubicBezTo>
                  <a:pt x="133364" y="45425"/>
                  <a:pt x="57237" y="64446"/>
                  <a:pt x="93585" y="106309"/>
                </a:cubicBezTo>
                <a:cubicBezTo>
                  <a:pt x="104312" y="118643"/>
                  <a:pt x="90763" y="129760"/>
                  <a:pt x="90763" y="129760"/>
                </a:cubicBezTo>
                <a:cubicBezTo>
                  <a:pt x="90763" y="129760"/>
                  <a:pt x="117991" y="115690"/>
                  <a:pt x="105484" y="98102"/>
                </a:cubicBezTo>
                <a:cubicBezTo>
                  <a:pt x="93802" y="81686"/>
                  <a:pt x="84856" y="73522"/>
                  <a:pt x="133321" y="45425"/>
                </a:cubicBezTo>
                <a:close/>
                <a:moveTo>
                  <a:pt x="130672" y="162895"/>
                </a:moveTo>
                <a:cubicBezTo>
                  <a:pt x="130455" y="163329"/>
                  <a:pt x="130151" y="163677"/>
                  <a:pt x="129803" y="164024"/>
                </a:cubicBezTo>
                <a:cubicBezTo>
                  <a:pt x="185520" y="149389"/>
                  <a:pt x="165023" y="112389"/>
                  <a:pt x="138402" y="121769"/>
                </a:cubicBezTo>
                <a:cubicBezTo>
                  <a:pt x="136969" y="122291"/>
                  <a:pt x="135710" y="123246"/>
                  <a:pt x="134841" y="124505"/>
                </a:cubicBezTo>
                <a:cubicBezTo>
                  <a:pt x="136404" y="123941"/>
                  <a:pt x="138011" y="123507"/>
                  <a:pt x="139618" y="123203"/>
                </a:cubicBezTo>
                <a:cubicBezTo>
                  <a:pt x="153080" y="120380"/>
                  <a:pt x="172405" y="141225"/>
                  <a:pt x="130672" y="162895"/>
                </a:cubicBezTo>
                <a:close/>
                <a:moveTo>
                  <a:pt x="151126" y="189950"/>
                </a:moveTo>
                <a:cubicBezTo>
                  <a:pt x="151126" y="189950"/>
                  <a:pt x="157423" y="195118"/>
                  <a:pt x="144221" y="199156"/>
                </a:cubicBezTo>
                <a:cubicBezTo>
                  <a:pt x="119077" y="206756"/>
                  <a:pt x="39649" y="209058"/>
                  <a:pt x="17588" y="199460"/>
                </a:cubicBezTo>
                <a:cubicBezTo>
                  <a:pt x="9641" y="196030"/>
                  <a:pt x="24536" y="191209"/>
                  <a:pt x="29226" y="190210"/>
                </a:cubicBezTo>
                <a:cubicBezTo>
                  <a:pt x="34090" y="189168"/>
                  <a:pt x="36913" y="189342"/>
                  <a:pt x="36913" y="189342"/>
                </a:cubicBezTo>
                <a:cubicBezTo>
                  <a:pt x="28097" y="183132"/>
                  <a:pt x="-20107" y="201545"/>
                  <a:pt x="12420" y="206800"/>
                </a:cubicBezTo>
                <a:cubicBezTo>
                  <a:pt x="101098" y="221217"/>
                  <a:pt x="174142" y="200329"/>
                  <a:pt x="151126" y="189950"/>
                </a:cubicBezTo>
                <a:close/>
                <a:moveTo>
                  <a:pt x="54067" y="171971"/>
                </a:moveTo>
                <a:cubicBezTo>
                  <a:pt x="19890" y="181525"/>
                  <a:pt x="74868" y="201241"/>
                  <a:pt x="118382" y="182611"/>
                </a:cubicBezTo>
                <a:cubicBezTo>
                  <a:pt x="114126" y="180961"/>
                  <a:pt x="110044" y="178963"/>
                  <a:pt x="106136" y="176618"/>
                </a:cubicBezTo>
                <a:cubicBezTo>
                  <a:pt x="86724" y="180309"/>
                  <a:pt x="77734" y="180570"/>
                  <a:pt x="60103" y="178572"/>
                </a:cubicBezTo>
                <a:cubicBezTo>
                  <a:pt x="45555" y="176922"/>
                  <a:pt x="54067" y="171971"/>
                  <a:pt x="54067" y="171971"/>
                </a:cubicBezTo>
                <a:close/>
                <a:moveTo>
                  <a:pt x="132149" y="214182"/>
                </a:moveTo>
                <a:cubicBezTo>
                  <a:pt x="97971" y="220609"/>
                  <a:pt x="55804" y="219871"/>
                  <a:pt x="30833" y="215746"/>
                </a:cubicBezTo>
                <a:cubicBezTo>
                  <a:pt x="30833" y="215702"/>
                  <a:pt x="35958" y="219958"/>
                  <a:pt x="62274" y="221652"/>
                </a:cubicBezTo>
                <a:cubicBezTo>
                  <a:pt x="102314" y="224214"/>
                  <a:pt x="163807" y="220219"/>
                  <a:pt x="165240" y="201284"/>
                </a:cubicBezTo>
                <a:cubicBezTo>
                  <a:pt x="165240" y="201284"/>
                  <a:pt x="162461" y="208450"/>
                  <a:pt x="132149" y="214182"/>
                </a:cubicBezTo>
                <a:close/>
                <a:moveTo>
                  <a:pt x="113214" y="153297"/>
                </a:moveTo>
                <a:cubicBezTo>
                  <a:pt x="87506" y="158248"/>
                  <a:pt x="72610" y="158118"/>
                  <a:pt x="53806" y="156164"/>
                </a:cubicBezTo>
                <a:cubicBezTo>
                  <a:pt x="39258" y="154644"/>
                  <a:pt x="48769" y="147609"/>
                  <a:pt x="48769" y="147609"/>
                </a:cubicBezTo>
                <a:cubicBezTo>
                  <a:pt x="11074" y="160116"/>
                  <a:pt x="69700" y="174273"/>
                  <a:pt x="122377" y="158856"/>
                </a:cubicBezTo>
                <a:cubicBezTo>
                  <a:pt x="118990" y="157640"/>
                  <a:pt x="115863" y="155773"/>
                  <a:pt x="113214" y="153297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36" name="Text 34"/>
          <p:cNvSpPr/>
          <p:nvPr/>
        </p:nvSpPr>
        <p:spPr>
          <a:xfrm>
            <a:off x="8063101" y="1695392"/>
            <a:ext cx="366871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8063101" y="1917739"/>
            <a:ext cx="365945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Language</a:t>
            </a:r>
            <a:endParaRPr lang="en-US" sz="1600"/>
          </a:p>
        </p:txBody>
      </p:sp>
      <p:sp>
        <p:nvSpPr>
          <p:cNvPr id="38" name="Shape 36"/>
          <p:cNvSpPr/>
          <p:nvPr/>
        </p:nvSpPr>
        <p:spPr>
          <a:xfrm>
            <a:off x="7507234" y="2232729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74117" y="0"/>
                </a:moveTo>
                <a:lnTo>
                  <a:pt x="370576" y="0"/>
                </a:lnTo>
                <a:cubicBezTo>
                  <a:pt x="411482" y="0"/>
                  <a:pt x="444693" y="33211"/>
                  <a:pt x="444693" y="74117"/>
                </a:cubicBezTo>
                <a:lnTo>
                  <a:pt x="444693" y="370576"/>
                </a:lnTo>
                <a:cubicBezTo>
                  <a:pt x="444693" y="411482"/>
                  <a:pt x="411482" y="444693"/>
                  <a:pt x="370576" y="444693"/>
                </a:cubicBezTo>
                <a:lnTo>
                  <a:pt x="74117" y="444693"/>
                </a:lnTo>
                <a:cubicBezTo>
                  <a:pt x="33211" y="444693"/>
                  <a:pt x="0" y="411482"/>
                  <a:pt x="0" y="37057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618408" y="2343903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0" y="34742"/>
                </a:moveTo>
                <a:cubicBezTo>
                  <a:pt x="0" y="23233"/>
                  <a:pt x="9337" y="13897"/>
                  <a:pt x="20845" y="13897"/>
                </a:cubicBezTo>
                <a:lnTo>
                  <a:pt x="62535" y="13897"/>
                </a:lnTo>
                <a:cubicBezTo>
                  <a:pt x="74043" y="13897"/>
                  <a:pt x="83380" y="23233"/>
                  <a:pt x="83380" y="34742"/>
                </a:cubicBezTo>
                <a:lnTo>
                  <a:pt x="83380" y="41690"/>
                </a:lnTo>
                <a:lnTo>
                  <a:pt x="138967" y="41690"/>
                </a:lnTo>
                <a:lnTo>
                  <a:pt x="138967" y="34742"/>
                </a:lnTo>
                <a:cubicBezTo>
                  <a:pt x="138967" y="23233"/>
                  <a:pt x="148303" y="13897"/>
                  <a:pt x="159812" y="13897"/>
                </a:cubicBezTo>
                <a:lnTo>
                  <a:pt x="201502" y="13897"/>
                </a:lnTo>
                <a:cubicBezTo>
                  <a:pt x="213010" y="13897"/>
                  <a:pt x="222347" y="23233"/>
                  <a:pt x="222347" y="34742"/>
                </a:cubicBezTo>
                <a:lnTo>
                  <a:pt x="222347" y="76432"/>
                </a:lnTo>
                <a:cubicBezTo>
                  <a:pt x="222347" y="87940"/>
                  <a:pt x="213010" y="97277"/>
                  <a:pt x="201502" y="97277"/>
                </a:cubicBezTo>
                <a:lnTo>
                  <a:pt x="159812" y="97277"/>
                </a:lnTo>
                <a:cubicBezTo>
                  <a:pt x="148303" y="97277"/>
                  <a:pt x="138967" y="87940"/>
                  <a:pt x="138967" y="76432"/>
                </a:cubicBezTo>
                <a:lnTo>
                  <a:pt x="138967" y="69483"/>
                </a:lnTo>
                <a:lnTo>
                  <a:pt x="83380" y="69483"/>
                </a:lnTo>
                <a:lnTo>
                  <a:pt x="83380" y="76432"/>
                </a:lnTo>
                <a:cubicBezTo>
                  <a:pt x="83380" y="79602"/>
                  <a:pt x="82642" y="82642"/>
                  <a:pt x="81382" y="85334"/>
                </a:cubicBezTo>
                <a:lnTo>
                  <a:pt x="111173" y="125070"/>
                </a:lnTo>
                <a:lnTo>
                  <a:pt x="145915" y="125070"/>
                </a:lnTo>
                <a:cubicBezTo>
                  <a:pt x="157423" y="125070"/>
                  <a:pt x="166760" y="134407"/>
                  <a:pt x="166760" y="145915"/>
                </a:cubicBezTo>
                <a:lnTo>
                  <a:pt x="166760" y="187605"/>
                </a:lnTo>
                <a:cubicBezTo>
                  <a:pt x="166760" y="199113"/>
                  <a:pt x="157423" y="208450"/>
                  <a:pt x="145915" y="208450"/>
                </a:cubicBezTo>
                <a:lnTo>
                  <a:pt x="104225" y="208450"/>
                </a:lnTo>
                <a:cubicBezTo>
                  <a:pt x="92717" y="208450"/>
                  <a:pt x="83380" y="199113"/>
                  <a:pt x="83380" y="187605"/>
                </a:cubicBezTo>
                <a:lnTo>
                  <a:pt x="83380" y="145915"/>
                </a:lnTo>
                <a:cubicBezTo>
                  <a:pt x="83380" y="142745"/>
                  <a:pt x="84118" y="139705"/>
                  <a:pt x="85378" y="137012"/>
                </a:cubicBezTo>
                <a:lnTo>
                  <a:pt x="55587" y="97277"/>
                </a:lnTo>
                <a:lnTo>
                  <a:pt x="20845" y="97277"/>
                </a:lnTo>
                <a:cubicBezTo>
                  <a:pt x="9337" y="97277"/>
                  <a:pt x="0" y="87940"/>
                  <a:pt x="0" y="76432"/>
                </a:cubicBezTo>
                <a:lnTo>
                  <a:pt x="0" y="34742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0" name="Text 38"/>
          <p:cNvSpPr/>
          <p:nvPr/>
        </p:nvSpPr>
        <p:spPr>
          <a:xfrm>
            <a:off x="8063101" y="2251258"/>
            <a:ext cx="366871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UML 2.5</a:t>
            </a:r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8063101" y="2473605"/>
            <a:ext cx="365945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 Standard</a:t>
            </a:r>
            <a:endParaRPr lang="en-US" sz="1600"/>
          </a:p>
        </p:txBody>
      </p:sp>
      <p:sp>
        <p:nvSpPr>
          <p:cNvPr id="42" name="Shape 40"/>
          <p:cNvSpPr/>
          <p:nvPr/>
        </p:nvSpPr>
        <p:spPr>
          <a:xfrm>
            <a:off x="7507234" y="2788596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74117" y="0"/>
                </a:moveTo>
                <a:lnTo>
                  <a:pt x="370576" y="0"/>
                </a:lnTo>
                <a:cubicBezTo>
                  <a:pt x="411482" y="0"/>
                  <a:pt x="444693" y="33211"/>
                  <a:pt x="444693" y="74117"/>
                </a:cubicBezTo>
                <a:lnTo>
                  <a:pt x="444693" y="370576"/>
                </a:lnTo>
                <a:cubicBezTo>
                  <a:pt x="444693" y="411482"/>
                  <a:pt x="411482" y="444693"/>
                  <a:pt x="370576" y="444693"/>
                </a:cubicBezTo>
                <a:lnTo>
                  <a:pt x="74117" y="444693"/>
                </a:lnTo>
                <a:cubicBezTo>
                  <a:pt x="33211" y="444693"/>
                  <a:pt x="0" y="411482"/>
                  <a:pt x="0" y="37057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7D8A9B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618408" y="2899769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123333" y="-565"/>
                </a:moveTo>
                <a:cubicBezTo>
                  <a:pt x="115820" y="-4907"/>
                  <a:pt x="106527" y="-4907"/>
                  <a:pt x="99014" y="-565"/>
                </a:cubicBezTo>
                <a:lnTo>
                  <a:pt x="62448" y="20541"/>
                </a:lnTo>
                <a:cubicBezTo>
                  <a:pt x="54935" y="24884"/>
                  <a:pt x="50289" y="32918"/>
                  <a:pt x="50289" y="41603"/>
                </a:cubicBezTo>
                <a:lnTo>
                  <a:pt x="50289" y="85855"/>
                </a:lnTo>
                <a:lnTo>
                  <a:pt x="11942" y="108003"/>
                </a:lnTo>
                <a:cubicBezTo>
                  <a:pt x="4430" y="112346"/>
                  <a:pt x="-217" y="120380"/>
                  <a:pt x="-217" y="129065"/>
                </a:cubicBezTo>
                <a:lnTo>
                  <a:pt x="-217" y="171320"/>
                </a:lnTo>
                <a:cubicBezTo>
                  <a:pt x="-217" y="180005"/>
                  <a:pt x="4430" y="188039"/>
                  <a:pt x="11942" y="192382"/>
                </a:cubicBezTo>
                <a:lnTo>
                  <a:pt x="48551" y="213487"/>
                </a:lnTo>
                <a:cubicBezTo>
                  <a:pt x="56064" y="217830"/>
                  <a:pt x="65358" y="217830"/>
                  <a:pt x="72871" y="213487"/>
                </a:cubicBezTo>
                <a:lnTo>
                  <a:pt x="111217" y="191340"/>
                </a:lnTo>
                <a:lnTo>
                  <a:pt x="149563" y="213487"/>
                </a:lnTo>
                <a:cubicBezTo>
                  <a:pt x="157076" y="217830"/>
                  <a:pt x="166369" y="217830"/>
                  <a:pt x="173882" y="213487"/>
                </a:cubicBezTo>
                <a:lnTo>
                  <a:pt x="210404" y="192382"/>
                </a:lnTo>
                <a:cubicBezTo>
                  <a:pt x="217917" y="188039"/>
                  <a:pt x="222564" y="180005"/>
                  <a:pt x="222564" y="171320"/>
                </a:cubicBezTo>
                <a:lnTo>
                  <a:pt x="222564" y="129065"/>
                </a:lnTo>
                <a:cubicBezTo>
                  <a:pt x="222564" y="120380"/>
                  <a:pt x="217917" y="112346"/>
                  <a:pt x="210404" y="108003"/>
                </a:cubicBezTo>
                <a:lnTo>
                  <a:pt x="172058" y="85855"/>
                </a:lnTo>
                <a:lnTo>
                  <a:pt x="172058" y="41603"/>
                </a:lnTo>
                <a:cubicBezTo>
                  <a:pt x="172058" y="32918"/>
                  <a:pt x="167411" y="24884"/>
                  <a:pt x="159898" y="20541"/>
                </a:cubicBezTo>
                <a:lnTo>
                  <a:pt x="123333" y="-565"/>
                </a:lnTo>
                <a:close/>
                <a:moveTo>
                  <a:pt x="100751" y="127068"/>
                </a:moveTo>
                <a:lnTo>
                  <a:pt x="100751" y="173317"/>
                </a:lnTo>
                <a:lnTo>
                  <a:pt x="62405" y="195465"/>
                </a:lnTo>
                <a:cubicBezTo>
                  <a:pt x="61884" y="195769"/>
                  <a:pt x="61276" y="195943"/>
                  <a:pt x="60668" y="195943"/>
                </a:cubicBezTo>
                <a:lnTo>
                  <a:pt x="60668" y="150214"/>
                </a:lnTo>
                <a:lnTo>
                  <a:pt x="100751" y="127068"/>
                </a:lnTo>
                <a:close/>
                <a:moveTo>
                  <a:pt x="201241" y="127328"/>
                </a:moveTo>
                <a:cubicBezTo>
                  <a:pt x="201545" y="127849"/>
                  <a:pt x="201719" y="128457"/>
                  <a:pt x="201719" y="129065"/>
                </a:cubicBezTo>
                <a:lnTo>
                  <a:pt x="201719" y="171320"/>
                </a:lnTo>
                <a:cubicBezTo>
                  <a:pt x="201719" y="172579"/>
                  <a:pt x="201067" y="173708"/>
                  <a:pt x="199982" y="174316"/>
                </a:cubicBezTo>
                <a:lnTo>
                  <a:pt x="163373" y="195422"/>
                </a:lnTo>
                <a:cubicBezTo>
                  <a:pt x="162851" y="195726"/>
                  <a:pt x="162243" y="195899"/>
                  <a:pt x="161635" y="195899"/>
                </a:cubicBezTo>
                <a:lnTo>
                  <a:pt x="161635" y="150171"/>
                </a:lnTo>
                <a:lnTo>
                  <a:pt x="201241" y="127328"/>
                </a:lnTo>
                <a:close/>
                <a:moveTo>
                  <a:pt x="151256" y="41603"/>
                </a:moveTo>
                <a:lnTo>
                  <a:pt x="151256" y="85855"/>
                </a:lnTo>
                <a:lnTo>
                  <a:pt x="111173" y="109002"/>
                </a:lnTo>
                <a:lnTo>
                  <a:pt x="111173" y="62752"/>
                </a:lnTo>
                <a:lnTo>
                  <a:pt x="150779" y="39909"/>
                </a:lnTo>
                <a:cubicBezTo>
                  <a:pt x="151083" y="40431"/>
                  <a:pt x="151256" y="41039"/>
                  <a:pt x="151256" y="41647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44" name="Text 42"/>
          <p:cNvSpPr/>
          <p:nvPr/>
        </p:nvSpPr>
        <p:spPr>
          <a:xfrm>
            <a:off x="8063101" y="2807125"/>
            <a:ext cx="366871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OOAD</a:t>
            </a:r>
            <a:endParaRPr lang="en-US" sz="1600"/>
          </a:p>
        </p:txBody>
      </p:sp>
      <p:sp>
        <p:nvSpPr>
          <p:cNvPr id="45" name="Text 43"/>
          <p:cNvSpPr/>
          <p:nvPr/>
        </p:nvSpPr>
        <p:spPr>
          <a:xfrm>
            <a:off x="8063101" y="3029471"/>
            <a:ext cx="365945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Methodology</a:t>
            </a:r>
            <a:endParaRPr lang="en-US" sz="1600"/>
          </a:p>
        </p:txBody>
      </p:sp>
      <p:sp>
        <p:nvSpPr>
          <p:cNvPr id="46" name="Shape 44"/>
          <p:cNvSpPr/>
          <p:nvPr/>
        </p:nvSpPr>
        <p:spPr>
          <a:xfrm>
            <a:off x="7507234" y="3344462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74117" y="0"/>
                </a:moveTo>
                <a:lnTo>
                  <a:pt x="370576" y="0"/>
                </a:lnTo>
                <a:cubicBezTo>
                  <a:pt x="411482" y="0"/>
                  <a:pt x="444693" y="33211"/>
                  <a:pt x="444693" y="74117"/>
                </a:cubicBezTo>
                <a:lnTo>
                  <a:pt x="444693" y="370576"/>
                </a:lnTo>
                <a:cubicBezTo>
                  <a:pt x="444693" y="411482"/>
                  <a:pt x="411482" y="444693"/>
                  <a:pt x="370576" y="444693"/>
                </a:cubicBezTo>
                <a:lnTo>
                  <a:pt x="74117" y="444693"/>
                </a:lnTo>
                <a:cubicBezTo>
                  <a:pt x="33211" y="444693"/>
                  <a:pt x="0" y="411482"/>
                  <a:pt x="0" y="37057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38B6AB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632304" y="3455635"/>
            <a:ext cx="194553" cy="222347"/>
          </a:xfrm>
          <a:custGeom>
            <a:avLst/>
            <a:gdLst/>
            <a:ahLst/>
            <a:cxnLst/>
            <a:rect l="l" t="t" r="r" b="b"/>
            <a:pathLst>
              <a:path w="194553" h="222347">
                <a:moveTo>
                  <a:pt x="55587" y="-13897"/>
                </a:moveTo>
                <a:cubicBezTo>
                  <a:pt x="63273" y="-13897"/>
                  <a:pt x="69483" y="-7687"/>
                  <a:pt x="69483" y="0"/>
                </a:cubicBezTo>
                <a:lnTo>
                  <a:pt x="69483" y="41690"/>
                </a:lnTo>
                <a:lnTo>
                  <a:pt x="125070" y="41690"/>
                </a:lnTo>
                <a:lnTo>
                  <a:pt x="125070" y="0"/>
                </a:lnTo>
                <a:cubicBezTo>
                  <a:pt x="125070" y="-7687"/>
                  <a:pt x="131280" y="-13897"/>
                  <a:pt x="138967" y="-13897"/>
                </a:cubicBezTo>
                <a:cubicBezTo>
                  <a:pt x="146653" y="-13897"/>
                  <a:pt x="152863" y="-7687"/>
                  <a:pt x="152863" y="0"/>
                </a:cubicBezTo>
                <a:lnTo>
                  <a:pt x="152863" y="41690"/>
                </a:lnTo>
                <a:lnTo>
                  <a:pt x="180657" y="41690"/>
                </a:lnTo>
                <a:cubicBezTo>
                  <a:pt x="188343" y="41690"/>
                  <a:pt x="194553" y="47900"/>
                  <a:pt x="194553" y="55587"/>
                </a:cubicBezTo>
                <a:cubicBezTo>
                  <a:pt x="194553" y="63273"/>
                  <a:pt x="188343" y="69483"/>
                  <a:pt x="180657" y="69483"/>
                </a:cubicBezTo>
                <a:lnTo>
                  <a:pt x="180657" y="97277"/>
                </a:lnTo>
                <a:cubicBezTo>
                  <a:pt x="180657" y="138576"/>
                  <a:pt x="150605" y="172883"/>
                  <a:pt x="111173" y="179484"/>
                </a:cubicBezTo>
                <a:lnTo>
                  <a:pt x="111173" y="208450"/>
                </a:lnTo>
                <a:cubicBezTo>
                  <a:pt x="111173" y="216136"/>
                  <a:pt x="104963" y="222347"/>
                  <a:pt x="97277" y="222347"/>
                </a:cubicBezTo>
                <a:cubicBezTo>
                  <a:pt x="89590" y="222347"/>
                  <a:pt x="83380" y="216136"/>
                  <a:pt x="83380" y="208450"/>
                </a:cubicBezTo>
                <a:lnTo>
                  <a:pt x="83380" y="179484"/>
                </a:lnTo>
                <a:cubicBezTo>
                  <a:pt x="43948" y="172883"/>
                  <a:pt x="13897" y="138576"/>
                  <a:pt x="13897" y="97277"/>
                </a:cubicBezTo>
                <a:lnTo>
                  <a:pt x="13897" y="69483"/>
                </a:lnTo>
                <a:cubicBezTo>
                  <a:pt x="6210" y="69483"/>
                  <a:pt x="0" y="63273"/>
                  <a:pt x="0" y="55587"/>
                </a:cubicBezTo>
                <a:cubicBezTo>
                  <a:pt x="0" y="47900"/>
                  <a:pt x="6210" y="41690"/>
                  <a:pt x="13897" y="41690"/>
                </a:cubicBezTo>
                <a:lnTo>
                  <a:pt x="41690" y="41690"/>
                </a:lnTo>
                <a:lnTo>
                  <a:pt x="41690" y="0"/>
                </a:lnTo>
                <a:cubicBezTo>
                  <a:pt x="41690" y="-7687"/>
                  <a:pt x="47900" y="-13897"/>
                  <a:pt x="55587" y="-13897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48" name="Text 46"/>
          <p:cNvSpPr/>
          <p:nvPr/>
        </p:nvSpPr>
        <p:spPr>
          <a:xfrm>
            <a:off x="8063101" y="3362991"/>
            <a:ext cx="3668717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Plugin API</a:t>
            </a:r>
            <a:endParaRPr lang="en-US" sz="1600"/>
          </a:p>
        </p:txBody>
      </p:sp>
      <p:sp>
        <p:nvSpPr>
          <p:cNvPr id="49" name="Text 47"/>
          <p:cNvSpPr/>
          <p:nvPr/>
        </p:nvSpPr>
        <p:spPr>
          <a:xfrm>
            <a:off x="8063101" y="3585337"/>
            <a:ext cx="3659453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>
                <a:solidFill>
                  <a:srgbClr val="7D8A9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Extension Framework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kern="0" spc="49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03 / Use Case Diagram</a:t>
            </a:r>
            <a:endParaRPr lang="en-US" sz="950">
              <a:latin typeface="Liter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9116" y="610498"/>
            <a:ext cx="116353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0" b="1">
                <a:solidFill>
                  <a:srgbClr val="E0E6EB"/>
                </a:solidFill>
                <a:latin typeface="Liter"/>
              </a:rPr>
              <a:t>Use Case mode</a:t>
            </a:r>
            <a:endParaRPr lang="en-US"/>
          </a:p>
        </p:txBody>
      </p:sp>
      <p:pic>
        <p:nvPicPr>
          <p:cNvPr id="11" name="Picture 10" descr="A diagram of workflow&#10;&#10;AI-generated content may be incorrect.">
            <a:extLst>
              <a:ext uri="{FF2B5EF4-FFF2-40B4-BE49-F238E27FC236}">
                <a16:creationId xmlns:a16="http://schemas.microsoft.com/office/drawing/2014/main" id="{0468CEC9-B643-84F9-5A63-465EDD3E9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216" y="354965"/>
            <a:ext cx="7474138" cy="6341110"/>
          </a:xfrm>
          <a:prstGeom prst="rect">
            <a:avLst/>
          </a:prstGeom>
        </p:spPr>
      </p:pic>
      <p:sp>
        <p:nvSpPr>
          <p:cNvPr id="13" name="Shape 4">
            <a:extLst>
              <a:ext uri="{FF2B5EF4-FFF2-40B4-BE49-F238E27FC236}">
                <a16:creationId xmlns:a16="http://schemas.microsoft.com/office/drawing/2014/main" id="{1A827FA5-5805-39D5-97FD-EC3DCD2315A3}"/>
              </a:ext>
            </a:extLst>
          </p:cNvPr>
          <p:cNvSpPr/>
          <p:nvPr/>
        </p:nvSpPr>
        <p:spPr>
          <a:xfrm>
            <a:off x="56957" y="1141040"/>
            <a:ext cx="4179794" cy="1070722"/>
          </a:xfrm>
          <a:custGeom>
            <a:avLst/>
            <a:gdLst/>
            <a:ahLst/>
            <a:cxnLst/>
            <a:rect l="l" t="t" r="r" b="b"/>
            <a:pathLst>
              <a:path w="3695700" h="98107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904875"/>
                </a:lnTo>
                <a:cubicBezTo>
                  <a:pt x="3695700" y="946959"/>
                  <a:pt x="3661584" y="981075"/>
                  <a:pt x="3619500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8533F163-F35B-E4F5-D399-8FB19C23458C}"/>
              </a:ext>
            </a:extLst>
          </p:cNvPr>
          <p:cNvSpPr/>
          <p:nvPr/>
        </p:nvSpPr>
        <p:spPr>
          <a:xfrm>
            <a:off x="195070" y="12982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8912DA52-B68C-D20B-4FD5-529F892D313D}"/>
              </a:ext>
            </a:extLst>
          </p:cNvPr>
          <p:cNvSpPr/>
          <p:nvPr/>
        </p:nvSpPr>
        <p:spPr>
          <a:xfrm>
            <a:off x="366520" y="1260102"/>
            <a:ext cx="3782545" cy="24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E0E6EB"/>
                </a:solidFill>
                <a:latin typeface="Liter"/>
                <a:ea typeface="Calibri"/>
                <a:cs typeface="Calibri"/>
              </a:rPr>
              <a:t>Primary Actor</a:t>
            </a: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0B63DF9-16E7-1392-211F-A3D85F6F2339}"/>
              </a:ext>
            </a:extLst>
          </p:cNvPr>
          <p:cNvSpPr/>
          <p:nvPr/>
        </p:nvSpPr>
        <p:spPr>
          <a:xfrm>
            <a:off x="184984" y="1564902"/>
            <a:ext cx="3963522" cy="563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chemeClr val="bg1"/>
                </a:solidFill>
                <a:latin typeface="Quattrocento Sans"/>
              </a:rPr>
              <a:t>Workflow Designer – Models Business Processes by defining workflows composed of steps and conditional transitions, independent of executions</a:t>
            </a:r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9072E9EE-69B2-214A-E7C3-1B6A142BAAD0}"/>
              </a:ext>
            </a:extLst>
          </p:cNvPr>
          <p:cNvSpPr/>
          <p:nvPr/>
        </p:nvSpPr>
        <p:spPr>
          <a:xfrm>
            <a:off x="56957" y="2420471"/>
            <a:ext cx="4179794" cy="1994087"/>
          </a:xfrm>
          <a:custGeom>
            <a:avLst/>
            <a:gdLst/>
            <a:ahLst/>
            <a:cxnLst/>
            <a:rect l="l" t="t" r="r" b="b"/>
            <a:pathLst>
              <a:path w="3695700" h="98107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904875"/>
                </a:lnTo>
                <a:cubicBezTo>
                  <a:pt x="3695700" y="946959"/>
                  <a:pt x="3661584" y="981075"/>
                  <a:pt x="3619500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6D9CAF26-1217-15CF-CC7D-FDFD8AA9620C}"/>
              </a:ext>
            </a:extLst>
          </p:cNvPr>
          <p:cNvSpPr/>
          <p:nvPr/>
        </p:nvSpPr>
        <p:spPr>
          <a:xfrm>
            <a:off x="176020" y="2577634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68D9651A-F3F4-0D29-C5C8-7E95B68701C4}"/>
              </a:ext>
            </a:extLst>
          </p:cNvPr>
          <p:cNvSpPr/>
          <p:nvPr/>
        </p:nvSpPr>
        <p:spPr>
          <a:xfrm>
            <a:off x="366520" y="2539534"/>
            <a:ext cx="3782545" cy="24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E0E6EB"/>
                </a:solidFill>
                <a:latin typeface="Liter"/>
              </a:rPr>
              <a:t>Secondary Actors</a:t>
            </a: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AFF26E62-4D4E-4100-E59B-E15FEC8C33AD}"/>
              </a:ext>
            </a:extLst>
          </p:cNvPr>
          <p:cNvSpPr/>
          <p:nvPr/>
        </p:nvSpPr>
        <p:spPr>
          <a:xfrm>
            <a:off x="184984" y="2790546"/>
            <a:ext cx="3963522" cy="1549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0">
                <a:solidFill>
                  <a:schemeClr val="bg1"/>
                </a:solidFill>
                <a:latin typeface="Quattrocento Sans"/>
              </a:rPr>
              <a:t>Workflow Engine – Executes workflow instances, executes conditions at runtime, and maintains workflow execution state.</a:t>
            </a:r>
          </a:p>
          <a:p>
            <a:pPr>
              <a:lnSpc>
                <a:spcPct val="140000"/>
              </a:lnSpc>
            </a:pPr>
            <a:r>
              <a:rPr lang="en-US" sz="1150">
                <a:solidFill>
                  <a:schemeClr val="bg1"/>
                </a:solidFill>
                <a:latin typeface="Quattrocento Sans"/>
              </a:rPr>
              <a:t>Systems Administrator – maintains and extends the engine by adding new steps and system configurations without changing the core logic</a:t>
            </a:r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66CDCADC-8E40-8293-F4FD-ADAAD660FE96}"/>
              </a:ext>
            </a:extLst>
          </p:cNvPr>
          <p:cNvSpPr/>
          <p:nvPr/>
        </p:nvSpPr>
        <p:spPr>
          <a:xfrm>
            <a:off x="39028" y="4614303"/>
            <a:ext cx="4179794" cy="2105891"/>
          </a:xfrm>
          <a:custGeom>
            <a:avLst/>
            <a:gdLst/>
            <a:ahLst/>
            <a:cxnLst/>
            <a:rect l="l" t="t" r="r" b="b"/>
            <a:pathLst>
              <a:path w="3695700" h="98107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904875"/>
                </a:lnTo>
                <a:cubicBezTo>
                  <a:pt x="3695700" y="946959"/>
                  <a:pt x="3661584" y="981075"/>
                  <a:pt x="3619500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3" name="Shape 13">
            <a:extLst>
              <a:ext uri="{FF2B5EF4-FFF2-40B4-BE49-F238E27FC236}">
                <a16:creationId xmlns:a16="http://schemas.microsoft.com/office/drawing/2014/main" id="{89F7A279-2D7E-A9F7-58BA-67020EFD91DD}"/>
              </a:ext>
            </a:extLst>
          </p:cNvPr>
          <p:cNvSpPr/>
          <p:nvPr/>
        </p:nvSpPr>
        <p:spPr>
          <a:xfrm>
            <a:off x="186666" y="4771465"/>
            <a:ext cx="133350" cy="296173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-9525"/>
                </a:moveTo>
                <a:cubicBezTo>
                  <a:pt x="43369" y="-9525"/>
                  <a:pt x="47625" y="-5269"/>
                  <a:pt x="47625" y="0"/>
                </a:cubicBezTo>
                <a:lnTo>
                  <a:pt x="47625" y="28575"/>
                </a:lnTo>
                <a:lnTo>
                  <a:pt x="85725" y="28575"/>
                </a:lnTo>
                <a:lnTo>
                  <a:pt x="85725" y="0"/>
                </a:lnTo>
                <a:cubicBezTo>
                  <a:pt x="85725" y="-5269"/>
                  <a:pt x="89981" y="-9525"/>
                  <a:pt x="95250" y="-9525"/>
                </a:cubicBezTo>
                <a:cubicBezTo>
                  <a:pt x="100519" y="-9525"/>
                  <a:pt x="104775" y="-5269"/>
                  <a:pt x="104775" y="0"/>
                </a:cubicBezTo>
                <a:lnTo>
                  <a:pt x="104775" y="28575"/>
                </a:ln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cubicBezTo>
                  <a:pt x="133350" y="43369"/>
                  <a:pt x="129094" y="47625"/>
                  <a:pt x="123825" y="47625"/>
                </a:cubicBezTo>
                <a:lnTo>
                  <a:pt x="123825" y="66675"/>
                </a:lnTo>
                <a:cubicBezTo>
                  <a:pt x="123825" y="94982"/>
                  <a:pt x="103227" y="118497"/>
                  <a:pt x="76200" y="123021"/>
                </a:cubicBezTo>
                <a:lnTo>
                  <a:pt x="76200" y="142875"/>
                </a:lnTo>
                <a:cubicBezTo>
                  <a:pt x="76200" y="148144"/>
                  <a:pt x="71944" y="152400"/>
                  <a:pt x="66675" y="152400"/>
                </a:cubicBezTo>
                <a:cubicBezTo>
                  <a:pt x="61406" y="152400"/>
                  <a:pt x="57150" y="148144"/>
                  <a:pt x="57150" y="142875"/>
                </a:cubicBezTo>
                <a:lnTo>
                  <a:pt x="57150" y="123021"/>
                </a:lnTo>
                <a:cubicBezTo>
                  <a:pt x="30123" y="118497"/>
                  <a:pt x="9525" y="94982"/>
                  <a:pt x="9525" y="6667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lnTo>
                  <a:pt x="28575" y="0"/>
                </a:lnTo>
                <a:cubicBezTo>
                  <a:pt x="28575" y="-5269"/>
                  <a:pt x="32831" y="-9525"/>
                  <a:pt x="38100" y="-9525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F2447730-7C3F-AE22-4828-B875B65B90C7}"/>
              </a:ext>
            </a:extLst>
          </p:cNvPr>
          <p:cNvSpPr/>
          <p:nvPr/>
        </p:nvSpPr>
        <p:spPr>
          <a:xfrm>
            <a:off x="348591" y="4733365"/>
            <a:ext cx="3782545" cy="24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E0E6EB"/>
                </a:solidFill>
                <a:latin typeface="Liter"/>
              </a:rPr>
              <a:t>Use Cases</a:t>
            </a:r>
          </a:p>
        </p:txBody>
      </p:sp>
      <p:sp>
        <p:nvSpPr>
          <p:cNvPr id="57" name="Text 15">
            <a:extLst>
              <a:ext uri="{FF2B5EF4-FFF2-40B4-BE49-F238E27FC236}">
                <a16:creationId xmlns:a16="http://schemas.microsoft.com/office/drawing/2014/main" id="{B2BB16B4-F5D3-12B5-69B9-23866E7CF95B}"/>
              </a:ext>
            </a:extLst>
          </p:cNvPr>
          <p:cNvSpPr/>
          <p:nvPr/>
        </p:nvSpPr>
        <p:spPr>
          <a:xfrm>
            <a:off x="158091" y="5038165"/>
            <a:ext cx="3981450" cy="919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>
                <a:solidFill>
                  <a:schemeClr val="bg1"/>
                </a:solidFill>
                <a:latin typeface="Quattrocento Sans"/>
                <a:ea typeface="+mn-lt"/>
                <a:cs typeface="+mn-lt"/>
              </a:rPr>
              <a:t>Define Workflow, Execute Workflow, Evaluate Conditions Manage Execution State, Handle Completion / Failure Extend Workflow Engine</a:t>
            </a:r>
            <a:endParaRPr lang="en-US" sz="110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18306-C4F5-154B-5BBB-CFFF846B6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8845A6-8427-D342-6031-D3CCCC7AB80E}"/>
              </a:ext>
            </a:extLst>
          </p:cNvPr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kern="0" spc="49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04 / </a:t>
            </a:r>
            <a:r>
              <a:rPr lang="en-US" sz="950" kern="0" spc="49" dirty="0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Activity Diagrams</a:t>
            </a:r>
            <a:endParaRPr lang="en-US" sz="950" dirty="0">
              <a:latin typeface="Lite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D8B65A-1322-0EA9-1413-5FFC20818A28}"/>
              </a:ext>
            </a:extLst>
          </p:cNvPr>
          <p:cNvSpPr/>
          <p:nvPr/>
        </p:nvSpPr>
        <p:spPr>
          <a:xfrm>
            <a:off x="350358" y="610498"/>
            <a:ext cx="3875232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lnSpc>
                <a:spcPct val="90000"/>
              </a:lnSpc>
              <a:buAutoNum type="arabicPeriod"/>
            </a:pPr>
            <a:r>
              <a:rPr lang="en-US" sz="2500" b="1">
                <a:solidFill>
                  <a:srgbClr val="E0E6EB"/>
                </a:solidFill>
                <a:latin typeface="Liter"/>
              </a:rPr>
              <a:t>Define Workflow</a:t>
            </a:r>
            <a:endParaRPr lang="en-US" sz="2500" b="1" dirty="0">
              <a:solidFill>
                <a:srgbClr val="E0E6EB"/>
              </a:solidFill>
              <a:latin typeface="Liter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998D4E7B-5B12-60A4-725B-E7C0E55955E3}"/>
              </a:ext>
            </a:extLst>
          </p:cNvPr>
          <p:cNvSpPr/>
          <p:nvPr/>
        </p:nvSpPr>
        <p:spPr>
          <a:xfrm>
            <a:off x="4406" y="1141040"/>
            <a:ext cx="4582690" cy="5546377"/>
          </a:xfrm>
          <a:custGeom>
            <a:avLst/>
            <a:gdLst/>
            <a:ahLst/>
            <a:cxnLst/>
            <a:rect l="l" t="t" r="r" b="b"/>
            <a:pathLst>
              <a:path w="3695700" h="98107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904875"/>
                </a:lnTo>
                <a:cubicBezTo>
                  <a:pt x="3695700" y="946959"/>
                  <a:pt x="3661584" y="981075"/>
                  <a:pt x="3619500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CF6469E5-989F-5B8B-448D-49DA8A46FAA8}"/>
              </a:ext>
            </a:extLst>
          </p:cNvPr>
          <p:cNvSpPr/>
          <p:nvPr/>
        </p:nvSpPr>
        <p:spPr>
          <a:xfrm>
            <a:off x="195070" y="12982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42576563-4B4A-857E-D176-C8165712ABB3}"/>
              </a:ext>
            </a:extLst>
          </p:cNvPr>
          <p:cNvSpPr/>
          <p:nvPr/>
        </p:nvSpPr>
        <p:spPr>
          <a:xfrm>
            <a:off x="366520" y="1260102"/>
            <a:ext cx="3782545" cy="24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E0E6EB"/>
                </a:solidFill>
                <a:latin typeface="Liter"/>
                <a:ea typeface="Calibri"/>
                <a:cs typeface="Calibri"/>
              </a:rPr>
              <a:t>Description</a:t>
            </a:r>
            <a:endParaRPr lang="en-US" sz="1200" b="1" dirty="0">
              <a:solidFill>
                <a:srgbClr val="E0E6EB"/>
              </a:solidFill>
              <a:latin typeface="Liter"/>
              <a:ea typeface="Calibri"/>
              <a:cs typeface="Calibri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0261CFA5-9E6B-1850-C0D5-613F6BD95367}"/>
              </a:ext>
            </a:extLst>
          </p:cNvPr>
          <p:cNvSpPr/>
          <p:nvPr/>
        </p:nvSpPr>
        <p:spPr>
          <a:xfrm>
            <a:off x="193742" y="1503593"/>
            <a:ext cx="4296350" cy="4496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4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Designer starts the </a:t>
            </a:r>
            <a:r>
              <a:rPr lang="en-US" sz="1600" dirty="0" err="1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proce</a:t>
            </a:r>
            <a:r>
              <a:rPr lang="en-US" sz="1600" dirty="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ss</a:t>
            </a:r>
          </a:p>
          <a:p>
            <a:pPr marL="228600" indent="-228600">
              <a:lnSpc>
                <a:spcPct val="140000"/>
              </a:lnSpc>
              <a:buFontTx/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prompts for workflow metadata.</a:t>
            </a: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 marL="228600" indent="-228600">
              <a:lnSpc>
                <a:spcPct val="140000"/>
              </a:lnSpc>
              <a:buFontTx/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Designer enters the workflow name and version.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lnSpc>
                <a:spcPct val="140000"/>
              </a:lnSpc>
              <a:buFontTx/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requests step definitions.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lnSpc>
                <a:spcPct val="140000"/>
              </a:lnSpc>
              <a:buFontTx/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Designer adds steps and defines transitions between them.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lnSpc>
                <a:spcPct val="140000"/>
              </a:lnSpc>
              <a:buFontTx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validates the workflow structure for loops or orphans.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marL="228600" indent="-228600">
              <a:lnSpc>
                <a:spcPct val="140000"/>
              </a:lnSpc>
              <a:buFontTx/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saves the definition to the database.</a:t>
            </a:r>
            <a:endParaRPr lang="en-US" sz="1600">
              <a:solidFill>
                <a:schemeClr val="bg1"/>
              </a:solidFill>
            </a:endParaRPr>
          </a:p>
          <a:p>
            <a:pPr marL="228600" indent="-228600">
              <a:lnSpc>
                <a:spcPct val="140000"/>
              </a:lnSpc>
              <a:buFontTx/>
              <a:buAutoNum type="arabicPeriod"/>
            </a:pPr>
            <a:endParaRPr lang="en-US" sz="115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</p:txBody>
      </p:sp>
      <p:pic>
        <p:nvPicPr>
          <p:cNvPr id="6" name="Picture 5" descr="A diagram of a workflow&#10;&#10;AI-generated content may be incorrect.">
            <a:extLst>
              <a:ext uri="{FF2B5EF4-FFF2-40B4-BE49-F238E27FC236}">
                <a16:creationId xmlns:a16="http://schemas.microsoft.com/office/drawing/2014/main" id="{F8ACA27F-C923-CB2C-45C0-DA3A9631F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589" y="92459"/>
            <a:ext cx="6674616" cy="676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1776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7E9EA-8355-0B5C-98A7-1CCA1C503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1B48B3-908F-5E1C-A6BC-3DAF6C3D6C2B}"/>
              </a:ext>
            </a:extLst>
          </p:cNvPr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kern="0" spc="49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05 / </a:t>
            </a:r>
            <a:r>
              <a:rPr lang="en-US" sz="950" kern="0" spc="49" dirty="0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Activity Diagrams</a:t>
            </a:r>
            <a:endParaRPr lang="en-US" sz="950" dirty="0">
              <a:latin typeface="Lite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83188F-8419-28BA-B7F9-D84B6D52854A}"/>
              </a:ext>
            </a:extLst>
          </p:cNvPr>
          <p:cNvSpPr/>
          <p:nvPr/>
        </p:nvSpPr>
        <p:spPr>
          <a:xfrm>
            <a:off x="350358" y="610498"/>
            <a:ext cx="3875232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0" b="1">
                <a:solidFill>
                  <a:srgbClr val="E0E6EB"/>
                </a:solidFill>
                <a:latin typeface="Liter"/>
              </a:rPr>
              <a:t>2. Execute Workflow</a:t>
            </a:r>
            <a:endParaRPr lang="en-US" sz="2500" b="1" dirty="0">
              <a:solidFill>
                <a:srgbClr val="E0E6EB"/>
              </a:solidFill>
              <a:latin typeface="Liter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5A48C1E1-96FC-C1E9-0AAD-C37A8C8D17A3}"/>
              </a:ext>
            </a:extLst>
          </p:cNvPr>
          <p:cNvSpPr/>
          <p:nvPr/>
        </p:nvSpPr>
        <p:spPr>
          <a:xfrm>
            <a:off x="4406" y="1141040"/>
            <a:ext cx="4582690" cy="5546377"/>
          </a:xfrm>
          <a:custGeom>
            <a:avLst/>
            <a:gdLst/>
            <a:ahLst/>
            <a:cxnLst/>
            <a:rect l="l" t="t" r="r" b="b"/>
            <a:pathLst>
              <a:path w="3695700" h="98107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904875"/>
                </a:lnTo>
                <a:cubicBezTo>
                  <a:pt x="3695700" y="946959"/>
                  <a:pt x="3661584" y="981075"/>
                  <a:pt x="3619500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E44C7075-7A20-E34E-F6C6-740D31C65141}"/>
              </a:ext>
            </a:extLst>
          </p:cNvPr>
          <p:cNvSpPr/>
          <p:nvPr/>
        </p:nvSpPr>
        <p:spPr>
          <a:xfrm>
            <a:off x="195070" y="12982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143CE563-732A-2952-99DF-3FCDF264F5A5}"/>
              </a:ext>
            </a:extLst>
          </p:cNvPr>
          <p:cNvSpPr/>
          <p:nvPr/>
        </p:nvSpPr>
        <p:spPr>
          <a:xfrm>
            <a:off x="366520" y="1260102"/>
            <a:ext cx="3782545" cy="24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E0E6EB"/>
                </a:solidFill>
                <a:latin typeface="Liter"/>
                <a:ea typeface="Calibri"/>
                <a:cs typeface="Calibri"/>
              </a:rPr>
              <a:t>Description</a:t>
            </a:r>
            <a:endParaRPr lang="en-US" sz="1200" b="1" dirty="0">
              <a:solidFill>
                <a:srgbClr val="E0E6EB"/>
              </a:solidFill>
              <a:latin typeface="Liter"/>
              <a:ea typeface="Calibri"/>
              <a:cs typeface="Calibri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3E4C23A7-78B6-63ED-9990-0C5FB8C2D8D4}"/>
              </a:ext>
            </a:extLst>
          </p:cNvPr>
          <p:cNvSpPr/>
          <p:nvPr/>
        </p:nvSpPr>
        <p:spPr>
          <a:xfrm>
            <a:off x="193742" y="1503593"/>
            <a:ext cx="4296350" cy="4496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Engine receives a trigger to start a workflow.</a:t>
            </a:r>
            <a:endParaRPr lang="en-US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fetches the Workflow Definition.</a:t>
            </a:r>
            <a:endParaRPr lang="en-US">
              <a:solidFill>
                <a:schemeClr val="bg1"/>
              </a:solidFill>
              <a:latin typeface="Calibri" panose="020F0502020204030204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A new Workflow Instance is created.</a:t>
            </a:r>
            <a:endParaRPr lang="en-US">
              <a:solidFill>
                <a:schemeClr val="bg1"/>
              </a:solidFill>
              <a:latin typeface="Calibri" panose="020F0502020204030204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identifies the initial step.</a:t>
            </a:r>
            <a:endParaRPr lang="en-US" dirty="0">
              <a:solidFill>
                <a:schemeClr val="bg1"/>
              </a:solidFill>
              <a:latin typeface="Calibri" panose="020F0502020204030204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step logic is invoked.</a:t>
            </a:r>
            <a:endParaRPr lang="en-US">
              <a:solidFill>
                <a:schemeClr val="bg1"/>
              </a:solidFill>
              <a:latin typeface="Calibri" panose="020F0502020204030204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checks if the workflow has reached a termination point.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 marL="228600" indent="-228600">
              <a:lnSpc>
                <a:spcPct val="140000"/>
              </a:lnSpc>
              <a:buAutoNum type="arabicPeriod"/>
            </a:pPr>
            <a:endParaRPr lang="en-US" sz="115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</p:txBody>
      </p:sp>
      <p:pic>
        <p:nvPicPr>
          <p:cNvPr id="4" name="Picture 3" descr="A diagram of a workflow&#10;&#10;AI-generated content may be incorrect.">
            <a:extLst>
              <a:ext uri="{FF2B5EF4-FFF2-40B4-BE49-F238E27FC236}">
                <a16:creationId xmlns:a16="http://schemas.microsoft.com/office/drawing/2014/main" id="{8754140A-050A-6B3F-9653-C66387172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147" y="70454"/>
            <a:ext cx="6293290" cy="678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2394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ED5F3-09C6-74C1-0BC6-73F0BE0F2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4817F12-9781-0CE7-AC24-EDF5D7AC1AF8}"/>
              </a:ext>
            </a:extLst>
          </p:cNvPr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kern="0" spc="49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06 / </a:t>
            </a:r>
            <a:r>
              <a:rPr lang="en-US" sz="950" kern="0" spc="49" dirty="0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Activity Diagrams</a:t>
            </a:r>
            <a:endParaRPr lang="en-US" sz="950" dirty="0">
              <a:latin typeface="Lite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32A842-A112-1D43-52E5-DC35F28A2E33}"/>
              </a:ext>
            </a:extLst>
          </p:cNvPr>
          <p:cNvSpPr/>
          <p:nvPr/>
        </p:nvSpPr>
        <p:spPr>
          <a:xfrm>
            <a:off x="350358" y="610498"/>
            <a:ext cx="3875232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0" b="1">
                <a:solidFill>
                  <a:srgbClr val="E0E6EB"/>
                </a:solidFill>
                <a:latin typeface="Liter"/>
              </a:rPr>
              <a:t>3. Evaluate Conditions</a:t>
            </a:r>
            <a:endParaRPr lang="en-US" sz="2500" b="1" dirty="0">
              <a:solidFill>
                <a:srgbClr val="E0E6EB"/>
              </a:solidFill>
              <a:latin typeface="Liter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6A86A881-0E0F-1768-781A-86473C1AA26C}"/>
              </a:ext>
            </a:extLst>
          </p:cNvPr>
          <p:cNvSpPr/>
          <p:nvPr/>
        </p:nvSpPr>
        <p:spPr>
          <a:xfrm>
            <a:off x="4406" y="1141040"/>
            <a:ext cx="4582690" cy="5546377"/>
          </a:xfrm>
          <a:custGeom>
            <a:avLst/>
            <a:gdLst/>
            <a:ahLst/>
            <a:cxnLst/>
            <a:rect l="l" t="t" r="r" b="b"/>
            <a:pathLst>
              <a:path w="3695700" h="98107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904875"/>
                </a:lnTo>
                <a:cubicBezTo>
                  <a:pt x="3695700" y="946959"/>
                  <a:pt x="3661584" y="981075"/>
                  <a:pt x="3619500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23FFCB27-F61A-5DE8-B603-990B09E21255}"/>
              </a:ext>
            </a:extLst>
          </p:cNvPr>
          <p:cNvSpPr/>
          <p:nvPr/>
        </p:nvSpPr>
        <p:spPr>
          <a:xfrm>
            <a:off x="195070" y="12982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8BECE448-7519-8467-6265-F6CE362B3FE7}"/>
              </a:ext>
            </a:extLst>
          </p:cNvPr>
          <p:cNvSpPr/>
          <p:nvPr/>
        </p:nvSpPr>
        <p:spPr>
          <a:xfrm>
            <a:off x="366520" y="1260102"/>
            <a:ext cx="3782545" cy="24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E0E6EB"/>
                </a:solidFill>
                <a:latin typeface="Liter"/>
                <a:ea typeface="Calibri"/>
                <a:cs typeface="Calibri"/>
              </a:rPr>
              <a:t>Description</a:t>
            </a:r>
            <a:endParaRPr lang="en-US" sz="1200" b="1" dirty="0">
              <a:solidFill>
                <a:srgbClr val="E0E6EB"/>
              </a:solidFill>
              <a:latin typeface="Liter"/>
              <a:ea typeface="Calibri"/>
              <a:cs typeface="Calibri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CE224D45-9A3A-3BEF-BDDD-46669CFF0C10}"/>
              </a:ext>
            </a:extLst>
          </p:cNvPr>
          <p:cNvSpPr/>
          <p:nvPr/>
        </p:nvSpPr>
        <p:spPr>
          <a:xfrm>
            <a:off x="193742" y="1503593"/>
            <a:ext cx="4296350" cy="4496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Engine completes a step and reaches a transition point.</a:t>
            </a:r>
            <a:endParaRPr lang="en-US">
              <a:solidFill>
                <a:schemeClr val="bg1"/>
              </a:solidFill>
              <a:latin typeface="Calibri" panose="020F0502020204030204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retrieves transition rules.</a:t>
            </a:r>
            <a:endParaRPr lang="en-US">
              <a:solidFill>
                <a:schemeClr val="bg1"/>
              </a:solidFill>
              <a:latin typeface="Calibri" panose="020F0502020204030204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fetches current variables from the Execution Context.</a:t>
            </a:r>
            <a:endParaRPr lang="en-US">
              <a:solidFill>
                <a:schemeClr val="bg1"/>
              </a:solidFill>
              <a:latin typeface="Calibri" panose="020F0502020204030204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evaluates the expression against the data.</a:t>
            </a:r>
            <a:endParaRPr lang="en-US">
              <a:solidFill>
                <a:schemeClr val="bg1"/>
              </a:solidFill>
              <a:latin typeface="Calibri" panose="020F0502020204030204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selects the valid target step.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 marL="228600" indent="-228600">
              <a:lnSpc>
                <a:spcPct val="140000"/>
              </a:lnSpc>
              <a:buAutoNum type="arabicPeriod"/>
            </a:pPr>
            <a:endParaRPr lang="en-US" sz="115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BB97EA15-E1B8-965F-EA4A-28629FEAC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087" y="121034"/>
            <a:ext cx="6480722" cy="673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52723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E6824-911A-092D-7D1C-149733F7C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2F4448-3484-31EE-8C82-7261509C2CDB}"/>
              </a:ext>
            </a:extLst>
          </p:cNvPr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kern="0" spc="49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06 / </a:t>
            </a:r>
            <a:r>
              <a:rPr lang="en-US" sz="950" kern="0" spc="49" dirty="0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Activity Diagrams</a:t>
            </a:r>
            <a:endParaRPr lang="en-US" sz="950" dirty="0">
              <a:latin typeface="Lite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CF8778-66E0-E865-6941-871A2185347B}"/>
              </a:ext>
            </a:extLst>
          </p:cNvPr>
          <p:cNvSpPr/>
          <p:nvPr/>
        </p:nvSpPr>
        <p:spPr>
          <a:xfrm>
            <a:off x="350358" y="610498"/>
            <a:ext cx="3875232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0" b="1">
                <a:solidFill>
                  <a:srgbClr val="E0E6EB"/>
                </a:solidFill>
                <a:latin typeface="Liter"/>
              </a:rPr>
              <a:t>4. Manage Execution State</a:t>
            </a:r>
            <a:endParaRPr lang="en-US" sz="2500" b="1" dirty="0">
              <a:solidFill>
                <a:srgbClr val="E0E6EB"/>
              </a:solidFill>
              <a:latin typeface="Liter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70E8A9D3-DB6F-2D04-AE95-05E5D3540F2A}"/>
              </a:ext>
            </a:extLst>
          </p:cNvPr>
          <p:cNvSpPr/>
          <p:nvPr/>
        </p:nvSpPr>
        <p:spPr>
          <a:xfrm>
            <a:off x="4406" y="1141040"/>
            <a:ext cx="4582690" cy="5546377"/>
          </a:xfrm>
          <a:custGeom>
            <a:avLst/>
            <a:gdLst/>
            <a:ahLst/>
            <a:cxnLst/>
            <a:rect l="l" t="t" r="r" b="b"/>
            <a:pathLst>
              <a:path w="3695700" h="98107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904875"/>
                </a:lnTo>
                <a:cubicBezTo>
                  <a:pt x="3695700" y="946959"/>
                  <a:pt x="3661584" y="981075"/>
                  <a:pt x="3619500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6E172796-B6DA-D642-1374-8C8E08C14643}"/>
              </a:ext>
            </a:extLst>
          </p:cNvPr>
          <p:cNvSpPr/>
          <p:nvPr/>
        </p:nvSpPr>
        <p:spPr>
          <a:xfrm>
            <a:off x="195070" y="12982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DE851473-5B1B-1299-3716-E27F84ED4717}"/>
              </a:ext>
            </a:extLst>
          </p:cNvPr>
          <p:cNvSpPr/>
          <p:nvPr/>
        </p:nvSpPr>
        <p:spPr>
          <a:xfrm>
            <a:off x="366520" y="1260102"/>
            <a:ext cx="3782545" cy="24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E0E6EB"/>
                </a:solidFill>
                <a:latin typeface="Liter"/>
                <a:ea typeface="Calibri"/>
                <a:cs typeface="Calibri"/>
              </a:rPr>
              <a:t>Description</a:t>
            </a:r>
            <a:endParaRPr lang="en-US" sz="1200" b="1" dirty="0">
              <a:solidFill>
                <a:srgbClr val="E0E6EB"/>
              </a:solidFill>
              <a:latin typeface="Liter"/>
              <a:ea typeface="Calibri"/>
              <a:cs typeface="Calibri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41379B87-049F-41D7-B8A6-50C45682D74D}"/>
              </a:ext>
            </a:extLst>
          </p:cNvPr>
          <p:cNvSpPr/>
          <p:nvPr/>
        </p:nvSpPr>
        <p:spPr>
          <a:xfrm>
            <a:off x="193742" y="1503593"/>
            <a:ext cx="4296350" cy="4496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detects a change in execution progress.</a:t>
            </a:r>
            <a:endParaRPr lang="en-US">
              <a:solidFill>
                <a:schemeClr val="bg1"/>
              </a:solidFill>
              <a:latin typeface="Calibri" panose="020F0502020204030204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captures the current step ID and variable values.</a:t>
            </a:r>
            <a:endParaRPr lang="en-US">
              <a:solidFill>
                <a:schemeClr val="bg1"/>
              </a:solidFill>
              <a:latin typeface="Calibri" panose="020F0502020204030204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Execution Context is updated.</a:t>
            </a:r>
            <a:endParaRPr lang="en-US">
              <a:solidFill>
                <a:schemeClr val="bg1"/>
              </a:solidFill>
              <a:latin typeface="Calibri" panose="020F0502020204030204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An entry is appended to the Step History.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confirms state persistence.</a:t>
            </a:r>
            <a:endParaRPr lang="en-US"/>
          </a:p>
          <a:p>
            <a:pPr>
              <a:lnSpc>
                <a:spcPct val="140000"/>
              </a:lnSpc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 marL="228600" indent="-228600">
              <a:lnSpc>
                <a:spcPct val="140000"/>
              </a:lnSpc>
              <a:buAutoNum type="arabicPeriod"/>
            </a:pPr>
            <a:endParaRPr lang="en-US" sz="115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</p:txBody>
      </p:sp>
      <p:pic>
        <p:nvPicPr>
          <p:cNvPr id="4" name="Picture 3" descr="A diagram of a workflow&#10;&#10;AI-generated content may be incorrect.">
            <a:extLst>
              <a:ext uri="{FF2B5EF4-FFF2-40B4-BE49-F238E27FC236}">
                <a16:creationId xmlns:a16="http://schemas.microsoft.com/office/drawing/2014/main" id="{D1521004-D17D-8A8A-967D-70A0BCDD7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287" y="4818"/>
            <a:ext cx="6254530" cy="685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5518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E8502-84A2-7FD6-2C52-184C7B68F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9E9488-058C-2E46-7C42-BA45D5BDDE3B}"/>
              </a:ext>
            </a:extLst>
          </p:cNvPr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kern="0" spc="49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07 / </a:t>
            </a:r>
            <a:r>
              <a:rPr lang="en-US" sz="950" kern="0" spc="49" dirty="0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Activity Diagrams</a:t>
            </a:r>
            <a:endParaRPr lang="en-US" sz="950" dirty="0">
              <a:latin typeface="Lite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316615-649A-C1AA-4BD9-5867B390280D}"/>
              </a:ext>
            </a:extLst>
          </p:cNvPr>
          <p:cNvSpPr/>
          <p:nvPr/>
        </p:nvSpPr>
        <p:spPr>
          <a:xfrm>
            <a:off x="350358" y="610498"/>
            <a:ext cx="4234335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0" b="1">
                <a:solidFill>
                  <a:srgbClr val="E0E6EB"/>
                </a:solidFill>
                <a:latin typeface="Liter"/>
              </a:rPr>
              <a:t>5. Handle Completion/ Failure</a:t>
            </a:r>
            <a:endParaRPr lang="en-US" sz="2500" b="1" dirty="0">
              <a:solidFill>
                <a:srgbClr val="E0E6EB"/>
              </a:solidFill>
              <a:latin typeface="Liter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AD0FCFB6-F81C-563A-C075-9F4665DBC224}"/>
              </a:ext>
            </a:extLst>
          </p:cNvPr>
          <p:cNvSpPr/>
          <p:nvPr/>
        </p:nvSpPr>
        <p:spPr>
          <a:xfrm>
            <a:off x="4406" y="1141040"/>
            <a:ext cx="4582690" cy="5546377"/>
          </a:xfrm>
          <a:custGeom>
            <a:avLst/>
            <a:gdLst/>
            <a:ahLst/>
            <a:cxnLst/>
            <a:rect l="l" t="t" r="r" b="b"/>
            <a:pathLst>
              <a:path w="3695700" h="98107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904875"/>
                </a:lnTo>
                <a:cubicBezTo>
                  <a:pt x="3695700" y="946959"/>
                  <a:pt x="3661584" y="981075"/>
                  <a:pt x="3619500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970422DA-4AC2-23C7-2329-F222AEF9ACFD}"/>
              </a:ext>
            </a:extLst>
          </p:cNvPr>
          <p:cNvSpPr/>
          <p:nvPr/>
        </p:nvSpPr>
        <p:spPr>
          <a:xfrm>
            <a:off x="195070" y="12982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5C8B8738-EEF7-5AFE-83C4-AEAC1C55B48D}"/>
              </a:ext>
            </a:extLst>
          </p:cNvPr>
          <p:cNvSpPr/>
          <p:nvPr/>
        </p:nvSpPr>
        <p:spPr>
          <a:xfrm>
            <a:off x="366520" y="1260102"/>
            <a:ext cx="3782545" cy="24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E0E6EB"/>
                </a:solidFill>
                <a:latin typeface="Liter"/>
                <a:ea typeface="Calibri"/>
                <a:cs typeface="Calibri"/>
              </a:rPr>
              <a:t>Description</a:t>
            </a:r>
            <a:endParaRPr lang="en-US" sz="1200" b="1" dirty="0">
              <a:solidFill>
                <a:srgbClr val="E0E6EB"/>
              </a:solidFill>
              <a:latin typeface="Liter"/>
              <a:ea typeface="Calibri"/>
              <a:cs typeface="Calibri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CBF02E44-8F07-860B-8982-287D31823CA4}"/>
              </a:ext>
            </a:extLst>
          </p:cNvPr>
          <p:cNvSpPr/>
          <p:nvPr/>
        </p:nvSpPr>
        <p:spPr>
          <a:xfrm>
            <a:off x="193742" y="1503593"/>
            <a:ext cx="4296350" cy="4496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AutoNum type="arabicPeriod"/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identifies a completion signal or a runtime error.</a:t>
            </a:r>
            <a:endParaRPr lang="en-US" dirty="0">
              <a:solidFill>
                <a:schemeClr val="bg1"/>
              </a:solidFill>
              <a:latin typeface="Calibri" panose="020F0502020204030204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evaluates the final status (Success or Failure).</a:t>
            </a:r>
            <a:endParaRPr lang="en-US">
              <a:solidFill>
                <a:schemeClr val="bg1"/>
              </a:solidFill>
              <a:latin typeface="Calibri" panose="020F0502020204030204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Workflow Instance status is updated.</a:t>
            </a:r>
            <a:endParaRPr lang="en-US">
              <a:solidFill>
                <a:schemeClr val="bg1"/>
              </a:solidFill>
              <a:latin typeface="Calibri" panose="020F0502020204030204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records final output data or error logs.</a:t>
            </a:r>
            <a:endParaRPr lang="en-US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Resources are released and the process ends.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 marL="228600" indent="-228600">
              <a:lnSpc>
                <a:spcPct val="140000"/>
              </a:lnSpc>
              <a:buAutoNum type="arabicPeriod"/>
            </a:pPr>
            <a:endParaRPr lang="en-US" sz="115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</p:txBody>
      </p:sp>
      <p:pic>
        <p:nvPicPr>
          <p:cNvPr id="5" name="Picture 4" descr="A diagram of a problem&#10;&#10;AI-generated content may be incorrect.">
            <a:extLst>
              <a:ext uri="{FF2B5EF4-FFF2-40B4-BE49-F238E27FC236}">
                <a16:creationId xmlns:a16="http://schemas.microsoft.com/office/drawing/2014/main" id="{E1FAB03B-E8F6-56B8-6236-890EB30A6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774" y="1590"/>
            <a:ext cx="6318796" cy="685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3786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2B3AAA-2B5F-E2F4-2D64-85FD8B313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75DD95-E6B8-C6B7-CFDC-F613FB8468BD}"/>
              </a:ext>
            </a:extLst>
          </p:cNvPr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kern="0" spc="49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08 / </a:t>
            </a:r>
            <a:r>
              <a:rPr lang="en-US" sz="950" kern="0" spc="49" dirty="0">
                <a:solidFill>
                  <a:srgbClr val="38B6AB"/>
                </a:solidFill>
                <a:latin typeface="Liter"/>
                <a:ea typeface="Liter" pitchFamily="34" charset="-122"/>
                <a:cs typeface="Liter" pitchFamily="34" charset="-120"/>
              </a:rPr>
              <a:t>Activity Diagrams</a:t>
            </a:r>
            <a:endParaRPr lang="en-US" sz="950" dirty="0">
              <a:latin typeface="Liter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694CBB-0A9F-048A-335B-C0740A09D0E8}"/>
              </a:ext>
            </a:extLst>
          </p:cNvPr>
          <p:cNvSpPr/>
          <p:nvPr/>
        </p:nvSpPr>
        <p:spPr>
          <a:xfrm>
            <a:off x="350358" y="610498"/>
            <a:ext cx="4234335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0" b="1">
                <a:solidFill>
                  <a:srgbClr val="E0E6EB"/>
                </a:solidFill>
                <a:latin typeface="Liter"/>
              </a:rPr>
              <a:t>6. Extend Workflow Engine</a:t>
            </a:r>
            <a:endParaRPr lang="en-US" sz="2500" b="1" dirty="0">
              <a:solidFill>
                <a:srgbClr val="E0E6EB"/>
              </a:solidFill>
              <a:latin typeface="Liter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6AA445CC-2986-40F6-86DE-6303101AC84E}"/>
              </a:ext>
            </a:extLst>
          </p:cNvPr>
          <p:cNvSpPr/>
          <p:nvPr/>
        </p:nvSpPr>
        <p:spPr>
          <a:xfrm>
            <a:off x="4406" y="1141040"/>
            <a:ext cx="4582690" cy="5546377"/>
          </a:xfrm>
          <a:custGeom>
            <a:avLst/>
            <a:gdLst/>
            <a:ahLst/>
            <a:cxnLst/>
            <a:rect l="l" t="t" r="r" b="b"/>
            <a:pathLst>
              <a:path w="3695700" h="981075">
                <a:moveTo>
                  <a:pt x="76200" y="0"/>
                </a:moveTo>
                <a:lnTo>
                  <a:pt x="3619500" y="0"/>
                </a:lnTo>
                <a:cubicBezTo>
                  <a:pt x="3661584" y="0"/>
                  <a:pt x="3695700" y="34116"/>
                  <a:pt x="3695700" y="76200"/>
                </a:cubicBezTo>
                <a:lnTo>
                  <a:pt x="3695700" y="904875"/>
                </a:lnTo>
                <a:cubicBezTo>
                  <a:pt x="3695700" y="946959"/>
                  <a:pt x="3661584" y="981075"/>
                  <a:pt x="3619500" y="981075"/>
                </a:cubicBezTo>
                <a:lnTo>
                  <a:pt x="76200" y="981075"/>
                </a:lnTo>
                <a:cubicBezTo>
                  <a:pt x="34116" y="981075"/>
                  <a:pt x="0" y="946959"/>
                  <a:pt x="0" y="9048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B79F5344-273C-6AF1-BED8-B5D5491B672D}"/>
              </a:ext>
            </a:extLst>
          </p:cNvPr>
          <p:cNvSpPr/>
          <p:nvPr/>
        </p:nvSpPr>
        <p:spPr>
          <a:xfrm>
            <a:off x="195070" y="12982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38B6AB"/>
          </a:solidFill>
          <a:ln/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7AD6B3B8-016A-6EFB-8295-F0ABDD2856A1}"/>
              </a:ext>
            </a:extLst>
          </p:cNvPr>
          <p:cNvSpPr/>
          <p:nvPr/>
        </p:nvSpPr>
        <p:spPr>
          <a:xfrm>
            <a:off x="366520" y="1260102"/>
            <a:ext cx="3782545" cy="24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>
                <a:solidFill>
                  <a:srgbClr val="E0E6EB"/>
                </a:solidFill>
                <a:latin typeface="Liter"/>
                <a:ea typeface="Calibri"/>
                <a:cs typeface="Calibri"/>
              </a:rPr>
              <a:t>Description</a:t>
            </a:r>
            <a:endParaRPr lang="en-US" sz="1200" b="1" dirty="0">
              <a:solidFill>
                <a:srgbClr val="E0E6EB"/>
              </a:solidFill>
              <a:latin typeface="Liter"/>
              <a:ea typeface="Calibri"/>
              <a:cs typeface="Calibri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1C15F5A2-312F-92D2-4BFF-9906955D7C8F}"/>
              </a:ext>
            </a:extLst>
          </p:cNvPr>
          <p:cNvSpPr/>
          <p:nvPr/>
        </p:nvSpPr>
        <p:spPr>
          <a:xfrm>
            <a:off x="193742" y="1503593"/>
            <a:ext cx="4296350" cy="4496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AutoNum type="arabicPeriod"/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Administrator provides a new step type component.</a:t>
            </a: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validates the component against the standard Step interface.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system registers the new type in the Extension Registry.</a:t>
            </a:r>
            <a:endParaRPr lang="en-US"/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registry is refreshed.</a:t>
            </a:r>
            <a:endParaRPr lang="en-US"/>
          </a:p>
          <a:p>
            <a:pPr marL="342900" indent="-342900">
              <a:lnSpc>
                <a:spcPct val="140000"/>
              </a:lnSpc>
              <a:buAutoNum type="arabicPeriod"/>
            </a:pPr>
            <a:r>
              <a:rPr lang="en-US" sz="1600">
                <a:solidFill>
                  <a:schemeClr val="bg1"/>
                </a:solidFill>
                <a:latin typeface="Quattrocento Sans"/>
                <a:ea typeface="Calibri"/>
                <a:cs typeface="Calibri"/>
              </a:rPr>
              <a:t>The new step type becomes available for the Workflow Designer.</a:t>
            </a:r>
            <a:endParaRPr lang="en-US"/>
          </a:p>
          <a:p>
            <a:pPr marL="342900" indent="-342900">
              <a:lnSpc>
                <a:spcPct val="140000"/>
              </a:lnSpc>
              <a:buAutoNum type="arabicPeriod"/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>
              <a:lnSpc>
                <a:spcPct val="140000"/>
              </a:lnSpc>
            </a:pPr>
            <a:endParaRPr lang="en-US" sz="160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  <a:p>
            <a:pPr marL="228600" indent="-228600">
              <a:lnSpc>
                <a:spcPct val="140000"/>
              </a:lnSpc>
              <a:buAutoNum type="arabicPeriod"/>
            </a:pPr>
            <a:endParaRPr lang="en-US" sz="1150" dirty="0">
              <a:solidFill>
                <a:schemeClr val="bg1"/>
              </a:solidFill>
              <a:latin typeface="Quattrocento Sans"/>
              <a:ea typeface="Calibri"/>
              <a:cs typeface="Calibri"/>
            </a:endParaRPr>
          </a:p>
        </p:txBody>
      </p:sp>
      <p:pic>
        <p:nvPicPr>
          <p:cNvPr id="4" name="Picture 3" descr="A diagram of a workflow engine&#10;&#10;AI-generated content may be incorrect.">
            <a:extLst>
              <a:ext uri="{FF2B5EF4-FFF2-40B4-BE49-F238E27FC236}">
                <a16:creationId xmlns:a16="http://schemas.microsoft.com/office/drawing/2014/main" id="{3832D923-2A1C-AE0F-AA3C-0B289207F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980" y="1589"/>
            <a:ext cx="6192454" cy="685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998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Extensible Workflow Engine</dc:title>
  <dc:subject>Extensible Workflow Engine</dc:subject>
  <dc:creator>Kimi</dc:creator>
  <cp:revision>265</cp:revision>
  <dcterms:created xsi:type="dcterms:W3CDTF">2026-01-29T23:32:49Z</dcterms:created>
  <dcterms:modified xsi:type="dcterms:W3CDTF">2026-02-26T18:06:34Z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{"Label":"Extensible Workflow Engine","ContentProducer":"001191110108MACG2KBH8F10000","ProduceID":"19c0c116-8862-83e1-8000-00000d2c23d4","ReservedCode1":"","ContentPropagator":"001191110108MACG2KBH8F20000","PropagateID":"19c0c116-8862-83e1-8000-00000d2c23d4","ReservedCode2":""}</vt:lpwstr>
  </property>
</Properties>
</file>