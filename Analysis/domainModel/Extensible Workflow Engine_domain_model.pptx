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5" r:id="rId6"/>
    <p:sldId id="264" r:id="rId7"/>
    <p:sldId id="261" r:id="rId8"/>
    <p:sldId id="263" r:id="rId9"/>
    <p:sldId id="262" r:id="rId10"/>
    <p:sldId id="266" r:id="rId11"/>
  </p:sldIdLst>
  <p:sldSz cx="12192000" cy="6858000"/>
  <p:notesSz cx="6858000" cy="12192000"/>
  <p:embeddedFontLst>
    <p:embeddedFont>
      <p:font typeface="Liter" panose="020B0604020202020204" charset="0"/>
      <p:regular r:id="rId13"/>
    </p:embeddedFont>
    <p:embeddedFont>
      <p:font typeface="Quattrocento Sans" panose="020B05020500000200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C798C-939D-87C7-D23D-01B25D643837}" v="170" dt="2026-02-19T17:26:19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14D73-787B-4219-89DE-F50A822FFD48}" type="datetimeFigureOut"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049CD-314F-4E58-8323-3729F0D7D3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6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27DD-6583-8B7A-74DB-4D468190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FEB0C-F26B-2769-222F-F7D03FD93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5E5FB-0E8B-B07E-F12B-1D51B7E89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A95BC-80CE-E1E5-8F2E-2F53C708C3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21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A9FFB-57A2-B623-7041-BD910686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07C90-2DF6-5955-4C28-FC7630E9D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50B9F-2E7B-EE55-94D3-9BBA95F51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E3128-5501-072F-0D9D-B95E11193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586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9809-8FEB-1E3E-F0D1-D8FEB43F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5F82B-B2F2-5F8B-731E-490109338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73BC6-8D4B-8F72-AEE0-480783850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B72EA-F647-1D6D-EAB3-D29112BCD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95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022D-D096-164D-5BE7-987B8E93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B0B69-DA5E-AFC8-CDA3-9DF2EC88F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832B3-1F19-B0B0-997C-E46BEB4BA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A1B2D-A9E2-9887-FECB-03881B904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60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7DFB7-20A5-0981-E514-C7020F04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3121D-8808-2104-1578-A80D0261E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C8C73-3D4C-A9DF-D4E7-C067E719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A61F1-82A0-E401-C09C-EAFAC0792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83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35881-7008-07DA-8566-79DC8F6F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C29B7-E5FB-B3FC-4715-840417C15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BB067-BA06-81F0-1243-937E99E4F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4C988-F0E6-19F9-CCDA-01E223677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93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85783aed929504e3a19d5dc6194a790b821703b4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821" b="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1971675" cy="352425"/>
          </a:xfrm>
          <a:custGeom>
            <a:avLst/>
            <a:gdLst/>
            <a:ahLst/>
            <a:cxnLst/>
            <a:rect l="l" t="t" r="r" b="b"/>
            <a:pathLst>
              <a:path w="1971675" h="352425">
                <a:moveTo>
                  <a:pt x="76201" y="0"/>
                </a:moveTo>
                <a:lnTo>
                  <a:pt x="1895474" y="0"/>
                </a:lnTo>
                <a:cubicBezTo>
                  <a:pt x="1937559" y="0"/>
                  <a:pt x="1971675" y="34116"/>
                  <a:pt x="1971675" y="76201"/>
                </a:cubicBezTo>
                <a:lnTo>
                  <a:pt x="1971675" y="276224"/>
                </a:lnTo>
                <a:cubicBezTo>
                  <a:pt x="1971675" y="318309"/>
                  <a:pt x="1937559" y="352425"/>
                  <a:pt x="189547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8B6AB">
              <a:alpha val="20000"/>
            </a:srgbClr>
          </a:solidFill>
          <a:ln w="12700">
            <a:solidFill>
              <a:srgbClr val="38B6AB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466725"/>
            <a:ext cx="1723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>
                <a:solidFill>
                  <a:srgbClr val="38B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Backend System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381000" y="12001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Extensible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38B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Engine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381000" y="31432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431066"/>
            <a:ext cx="6515100" cy="124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>
                <a:solidFill>
                  <a:srgbClr val="7D8A9B"/>
                </a:solidFill>
                <a:latin typeface="Quattrocento Sans"/>
              </a:rPr>
              <a:t>Marlone </a:t>
            </a:r>
            <a:r>
              <a:rPr lang="en-US" sz="3200" err="1">
                <a:solidFill>
                  <a:srgbClr val="7D8A9B"/>
                </a:solidFill>
                <a:latin typeface="Quattrocento Sans"/>
              </a:rPr>
              <a:t>Nyapwere</a:t>
            </a:r>
            <a:endParaRPr lang="en-US" sz="3200">
              <a:solidFill>
                <a:srgbClr val="7D8A9B"/>
              </a:solidFill>
              <a:latin typeface="Quattrocento Sans"/>
            </a:endParaRPr>
          </a:p>
          <a:p>
            <a:pPr>
              <a:lnSpc>
                <a:spcPct val="140000"/>
              </a:lnSpc>
            </a:pPr>
            <a:r>
              <a:rPr lang="en-US" sz="3200">
                <a:solidFill>
                  <a:srgbClr val="7D8A9B"/>
                </a:solidFill>
                <a:latin typeface="Quattrocento Sans"/>
              </a:rPr>
              <a:t>Group #3</a:t>
            </a:r>
          </a:p>
        </p:txBody>
      </p:sp>
      <p:sp>
        <p:nvSpPr>
          <p:cNvPr id="9" name="Shape 6"/>
          <p:cNvSpPr/>
          <p:nvPr/>
        </p:nvSpPr>
        <p:spPr>
          <a:xfrm>
            <a:off x="392906" y="6267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0" name="Text 7"/>
          <p:cNvSpPr/>
          <p:nvPr/>
        </p:nvSpPr>
        <p:spPr>
          <a:xfrm>
            <a:off x="733425" y="624840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Implementation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2414290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2" name="Text 9"/>
          <p:cNvSpPr/>
          <p:nvPr/>
        </p:nvSpPr>
        <p:spPr>
          <a:xfrm>
            <a:off x="2742902" y="62484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UML-Based Design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4309467" y="62674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4" name="Text 11"/>
          <p:cNvSpPr/>
          <p:nvPr/>
        </p:nvSpPr>
        <p:spPr>
          <a:xfrm>
            <a:off x="4661892" y="62484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Plugin Architecture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1569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51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02 / Project Foundation</a:t>
            </a:r>
            <a:endParaRPr lang="en-US" sz="1000">
              <a:latin typeface="Li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0578" y="629982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75210" y="1116365"/>
            <a:ext cx="6781568" cy="2232729"/>
          </a:xfrm>
          <a:custGeom>
            <a:avLst/>
            <a:gdLst/>
            <a:ahLst/>
            <a:cxnLst/>
            <a:rect l="l" t="t" r="r" b="b"/>
            <a:pathLst>
              <a:path w="6781568" h="2232729">
                <a:moveTo>
                  <a:pt x="74127" y="0"/>
                </a:moveTo>
                <a:lnTo>
                  <a:pt x="6707442" y="0"/>
                </a:lnTo>
                <a:cubicBezTo>
                  <a:pt x="6748381" y="0"/>
                  <a:pt x="6781568" y="33188"/>
                  <a:pt x="6781568" y="74127"/>
                </a:cubicBezTo>
                <a:lnTo>
                  <a:pt x="6781568" y="2158603"/>
                </a:lnTo>
                <a:cubicBezTo>
                  <a:pt x="6781568" y="2199542"/>
                  <a:pt x="6748381" y="2232729"/>
                  <a:pt x="6707442" y="2232729"/>
                </a:cubicBezTo>
                <a:lnTo>
                  <a:pt x="74127" y="2232729"/>
                </a:lnTo>
                <a:cubicBezTo>
                  <a:pt x="33188" y="2232729"/>
                  <a:pt x="0" y="2199542"/>
                  <a:pt x="0" y="2158603"/>
                </a:cubicBezTo>
                <a:lnTo>
                  <a:pt x="0" y="74127"/>
                </a:lnTo>
                <a:cubicBezTo>
                  <a:pt x="0" y="33215"/>
                  <a:pt x="33215" y="0"/>
                  <a:pt x="7412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1234" y="1306286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62128" y="92644"/>
                </a:moveTo>
                <a:cubicBezTo>
                  <a:pt x="162128" y="54296"/>
                  <a:pt x="130993" y="23161"/>
                  <a:pt x="92644" y="23161"/>
                </a:cubicBezTo>
                <a:cubicBezTo>
                  <a:pt x="54296" y="23161"/>
                  <a:pt x="23161" y="54296"/>
                  <a:pt x="23161" y="92644"/>
                </a:cubicBezTo>
                <a:cubicBezTo>
                  <a:pt x="23161" y="130993"/>
                  <a:pt x="54296" y="162128"/>
                  <a:pt x="92644" y="162128"/>
                </a:cubicBezTo>
                <a:cubicBezTo>
                  <a:pt x="130993" y="162128"/>
                  <a:pt x="162128" y="130993"/>
                  <a:pt x="162128" y="92644"/>
                </a:cubicBezTo>
                <a:close/>
                <a:moveTo>
                  <a:pt x="0" y="92644"/>
                </a:moveTo>
                <a:cubicBezTo>
                  <a:pt x="0" y="41513"/>
                  <a:pt x="41513" y="0"/>
                  <a:pt x="92644" y="0"/>
                </a:cubicBezTo>
                <a:cubicBezTo>
                  <a:pt x="143776" y="0"/>
                  <a:pt x="185289" y="41513"/>
                  <a:pt x="185289" y="92644"/>
                </a:cubicBezTo>
                <a:cubicBezTo>
                  <a:pt x="185289" y="143776"/>
                  <a:pt x="143776" y="185289"/>
                  <a:pt x="92644" y="185289"/>
                </a:cubicBezTo>
                <a:cubicBezTo>
                  <a:pt x="41513" y="185289"/>
                  <a:pt x="0" y="143776"/>
                  <a:pt x="0" y="92644"/>
                </a:cubicBezTo>
                <a:close/>
                <a:moveTo>
                  <a:pt x="92644" y="121596"/>
                </a:moveTo>
                <a:cubicBezTo>
                  <a:pt x="108623" y="121596"/>
                  <a:pt x="121596" y="108623"/>
                  <a:pt x="121596" y="92644"/>
                </a:cubicBezTo>
                <a:cubicBezTo>
                  <a:pt x="121596" y="76666"/>
                  <a:pt x="108623" y="63693"/>
                  <a:pt x="92644" y="63693"/>
                </a:cubicBezTo>
                <a:cubicBezTo>
                  <a:pt x="76666" y="63693"/>
                  <a:pt x="63693" y="76666"/>
                  <a:pt x="63693" y="92644"/>
                </a:cubicBezTo>
                <a:cubicBezTo>
                  <a:pt x="63693" y="108623"/>
                  <a:pt x="76666" y="121596"/>
                  <a:pt x="92644" y="121596"/>
                </a:cubicBezTo>
                <a:close/>
                <a:moveTo>
                  <a:pt x="92644" y="40532"/>
                </a:moveTo>
                <a:cubicBezTo>
                  <a:pt x="121406" y="40532"/>
                  <a:pt x="144757" y="63883"/>
                  <a:pt x="144757" y="92644"/>
                </a:cubicBezTo>
                <a:cubicBezTo>
                  <a:pt x="144757" y="121406"/>
                  <a:pt x="121406" y="144757"/>
                  <a:pt x="92644" y="144757"/>
                </a:cubicBezTo>
                <a:cubicBezTo>
                  <a:pt x="63883" y="144757"/>
                  <a:pt x="40532" y="121406"/>
                  <a:pt x="40532" y="92644"/>
                </a:cubicBezTo>
                <a:cubicBezTo>
                  <a:pt x="40532" y="63883"/>
                  <a:pt x="63883" y="40532"/>
                  <a:pt x="92644" y="40532"/>
                </a:cubicBezTo>
                <a:close/>
                <a:moveTo>
                  <a:pt x="81064" y="92644"/>
                </a:moveTo>
                <a:cubicBezTo>
                  <a:pt x="81064" y="86253"/>
                  <a:pt x="86253" y="81064"/>
                  <a:pt x="92644" y="81064"/>
                </a:cubicBezTo>
                <a:cubicBezTo>
                  <a:pt x="99036" y="81064"/>
                  <a:pt x="104225" y="86253"/>
                  <a:pt x="104225" y="92644"/>
                </a:cubicBezTo>
                <a:cubicBezTo>
                  <a:pt x="104225" y="99036"/>
                  <a:pt x="99036" y="104225"/>
                  <a:pt x="92644" y="104225"/>
                </a:cubicBezTo>
                <a:cubicBezTo>
                  <a:pt x="86253" y="104225"/>
                  <a:pt x="81064" y="99036"/>
                  <a:pt x="81064" y="92644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6" name="Text 4"/>
          <p:cNvSpPr/>
          <p:nvPr/>
        </p:nvSpPr>
        <p:spPr>
          <a:xfrm>
            <a:off x="759684" y="1269228"/>
            <a:ext cx="633687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>
                <a:solidFill>
                  <a:srgbClr val="38B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Description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28073" y="1639805"/>
            <a:ext cx="6549957" cy="96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E0E6E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This project develops an </a:t>
            </a:r>
            <a:r>
              <a:rPr lang="en-US" sz="1150" b="1">
                <a:solidFill>
                  <a:srgbClr val="38B6A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extensible backend workflow engine</a:t>
            </a:r>
            <a:r>
              <a:rPr lang="en-US" sz="1150">
                <a:solidFill>
                  <a:srgbClr val="E0E6E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that models and executes business processes using object-oriented analysis and design techniques. A workflow is represented as a </a:t>
            </a:r>
            <a:r>
              <a:rPr lang="en-US" sz="1150" b="1">
                <a:solidFill>
                  <a:srgbClr val="38B6A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sequence of steps connected by conditional transitions</a:t>
            </a:r>
            <a:r>
              <a:rPr lang="en-US" sz="1150">
                <a:solidFill>
                  <a:srgbClr val="E0E6E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, enabling dynamic execution paths based on runtime data.</a:t>
            </a:r>
            <a:endParaRPr lang="en-US" sz="1600">
              <a:latin typeface="Quattrocento Sans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8073" y="2714480"/>
            <a:ext cx="6549957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separates </a:t>
            </a:r>
            <a:r>
              <a:rPr lang="en-US" sz="1167" b="1">
                <a:solidFill>
                  <a:srgbClr val="E0E6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definition from execution</a:t>
            </a: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allowing new workflows and step types to be added without modifying the core engine—achieving true extensibility through clean architecture.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375210" y="3469532"/>
            <a:ext cx="3335198" cy="1158055"/>
          </a:xfrm>
          <a:custGeom>
            <a:avLst/>
            <a:gdLst/>
            <a:ahLst/>
            <a:cxnLst/>
            <a:rect l="l" t="t" r="r" b="b"/>
            <a:pathLst>
              <a:path w="3335198" h="1158055">
                <a:moveTo>
                  <a:pt x="74116" y="0"/>
                </a:moveTo>
                <a:lnTo>
                  <a:pt x="3261082" y="0"/>
                </a:lnTo>
                <a:cubicBezTo>
                  <a:pt x="3302015" y="0"/>
                  <a:pt x="3335198" y="33183"/>
                  <a:pt x="3335198" y="74116"/>
                </a:cubicBezTo>
                <a:lnTo>
                  <a:pt x="3335198" y="1083939"/>
                </a:lnTo>
                <a:cubicBezTo>
                  <a:pt x="3335198" y="1124872"/>
                  <a:pt x="3302015" y="1158055"/>
                  <a:pt x="3261082" y="1158055"/>
                </a:cubicBezTo>
                <a:lnTo>
                  <a:pt x="74116" y="1158055"/>
                </a:lnTo>
                <a:cubicBezTo>
                  <a:pt x="33183" y="1158055"/>
                  <a:pt x="0" y="1124872"/>
                  <a:pt x="0" y="108393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38B6AB">
              <a:alpha val="10196"/>
            </a:srgbClr>
          </a:solidFill>
          <a:ln w="12700">
            <a:solidFill>
              <a:srgbClr val="38B6AB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5866" y="364092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00968" y="2258"/>
                </a:moveTo>
                <a:cubicBezTo>
                  <a:pt x="107439" y="-738"/>
                  <a:pt x="114908" y="-738"/>
                  <a:pt x="121379" y="2258"/>
                </a:cubicBezTo>
                <a:lnTo>
                  <a:pt x="216310" y="46120"/>
                </a:lnTo>
                <a:cubicBezTo>
                  <a:pt x="220001" y="47813"/>
                  <a:pt x="222347" y="51504"/>
                  <a:pt x="222347" y="55587"/>
                </a:cubicBezTo>
                <a:cubicBezTo>
                  <a:pt x="222347" y="59669"/>
                  <a:pt x="220001" y="63360"/>
                  <a:pt x="216310" y="65054"/>
                </a:cubicBezTo>
                <a:lnTo>
                  <a:pt x="121379" y="108915"/>
                </a:lnTo>
                <a:cubicBezTo>
                  <a:pt x="114908" y="111912"/>
                  <a:pt x="107439" y="111912"/>
                  <a:pt x="100968" y="108915"/>
                </a:cubicBezTo>
                <a:lnTo>
                  <a:pt x="6036" y="65054"/>
                </a:lnTo>
                <a:cubicBezTo>
                  <a:pt x="2345" y="63317"/>
                  <a:pt x="0" y="59625"/>
                  <a:pt x="0" y="55587"/>
                </a:cubicBezTo>
                <a:cubicBezTo>
                  <a:pt x="0" y="51548"/>
                  <a:pt x="2345" y="47813"/>
                  <a:pt x="6036" y="46120"/>
                </a:cubicBezTo>
                <a:lnTo>
                  <a:pt x="100968" y="2258"/>
                </a:lnTo>
                <a:close/>
                <a:moveTo>
                  <a:pt x="20888" y="94845"/>
                </a:moveTo>
                <a:lnTo>
                  <a:pt x="92239" y="127806"/>
                </a:lnTo>
                <a:cubicBezTo>
                  <a:pt x="104268" y="133364"/>
                  <a:pt x="118122" y="133364"/>
                  <a:pt x="130151" y="127806"/>
                </a:cubicBezTo>
                <a:lnTo>
                  <a:pt x="201502" y="94845"/>
                </a:lnTo>
                <a:lnTo>
                  <a:pt x="216310" y="101706"/>
                </a:lnTo>
                <a:cubicBezTo>
                  <a:pt x="220001" y="103400"/>
                  <a:pt x="222347" y="107091"/>
                  <a:pt x="222347" y="111173"/>
                </a:cubicBezTo>
                <a:cubicBezTo>
                  <a:pt x="222347" y="115255"/>
                  <a:pt x="220001" y="118947"/>
                  <a:pt x="216310" y="120640"/>
                </a:cubicBezTo>
                <a:lnTo>
                  <a:pt x="121379" y="164502"/>
                </a:lnTo>
                <a:cubicBezTo>
                  <a:pt x="114908" y="167498"/>
                  <a:pt x="107439" y="167498"/>
                  <a:pt x="100968" y="164502"/>
                </a:cubicBezTo>
                <a:lnTo>
                  <a:pt x="6036" y="120640"/>
                </a:lnTo>
                <a:cubicBezTo>
                  <a:pt x="2345" y="118903"/>
                  <a:pt x="0" y="115212"/>
                  <a:pt x="0" y="111173"/>
                </a:cubicBezTo>
                <a:cubicBezTo>
                  <a:pt x="0" y="107135"/>
                  <a:pt x="2345" y="103400"/>
                  <a:pt x="6036" y="101706"/>
                </a:cubicBezTo>
                <a:lnTo>
                  <a:pt x="20845" y="94845"/>
                </a:lnTo>
                <a:close/>
                <a:moveTo>
                  <a:pt x="6036" y="157293"/>
                </a:moveTo>
                <a:lnTo>
                  <a:pt x="20845" y="150431"/>
                </a:lnTo>
                <a:lnTo>
                  <a:pt x="92196" y="183392"/>
                </a:lnTo>
                <a:cubicBezTo>
                  <a:pt x="104225" y="188951"/>
                  <a:pt x="118078" y="188951"/>
                  <a:pt x="130107" y="183392"/>
                </a:cubicBezTo>
                <a:lnTo>
                  <a:pt x="201458" y="150431"/>
                </a:lnTo>
                <a:lnTo>
                  <a:pt x="216267" y="157293"/>
                </a:lnTo>
                <a:cubicBezTo>
                  <a:pt x="219958" y="158986"/>
                  <a:pt x="222303" y="162678"/>
                  <a:pt x="222303" y="166760"/>
                </a:cubicBezTo>
                <a:cubicBezTo>
                  <a:pt x="222303" y="170842"/>
                  <a:pt x="219958" y="174533"/>
                  <a:pt x="216267" y="176227"/>
                </a:cubicBezTo>
                <a:lnTo>
                  <a:pt x="121335" y="220088"/>
                </a:lnTo>
                <a:cubicBezTo>
                  <a:pt x="114865" y="223085"/>
                  <a:pt x="107395" y="223085"/>
                  <a:pt x="100924" y="220088"/>
                </a:cubicBezTo>
                <a:lnTo>
                  <a:pt x="6036" y="176227"/>
                </a:lnTo>
                <a:cubicBezTo>
                  <a:pt x="2345" y="174490"/>
                  <a:pt x="0" y="170799"/>
                  <a:pt x="0" y="166760"/>
                </a:cubicBezTo>
                <a:cubicBezTo>
                  <a:pt x="0" y="162721"/>
                  <a:pt x="2345" y="158986"/>
                  <a:pt x="6036" y="157293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1" name="Text 9"/>
          <p:cNvSpPr/>
          <p:nvPr/>
        </p:nvSpPr>
        <p:spPr>
          <a:xfrm>
            <a:off x="917179" y="3622395"/>
            <a:ext cx="111173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28073" y="3992973"/>
            <a:ext cx="3103587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of concerns between definition, execution, and extension layers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3827660" y="3469532"/>
            <a:ext cx="3335198" cy="1158055"/>
          </a:xfrm>
          <a:custGeom>
            <a:avLst/>
            <a:gdLst/>
            <a:ahLst/>
            <a:cxnLst/>
            <a:rect l="l" t="t" r="r" b="b"/>
            <a:pathLst>
              <a:path w="3335198" h="1158055">
                <a:moveTo>
                  <a:pt x="74116" y="0"/>
                </a:moveTo>
                <a:lnTo>
                  <a:pt x="3261082" y="0"/>
                </a:lnTo>
                <a:cubicBezTo>
                  <a:pt x="3302015" y="0"/>
                  <a:pt x="3335198" y="33183"/>
                  <a:pt x="3335198" y="74116"/>
                </a:cubicBezTo>
                <a:lnTo>
                  <a:pt x="3335198" y="1083939"/>
                </a:lnTo>
                <a:cubicBezTo>
                  <a:pt x="3335198" y="1124872"/>
                  <a:pt x="3302015" y="1158055"/>
                  <a:pt x="3261082" y="1158055"/>
                </a:cubicBezTo>
                <a:lnTo>
                  <a:pt x="74116" y="1158055"/>
                </a:lnTo>
                <a:cubicBezTo>
                  <a:pt x="33183" y="1158055"/>
                  <a:pt x="0" y="1124872"/>
                  <a:pt x="0" y="108393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38B6AB">
              <a:alpha val="10196"/>
            </a:srgbClr>
          </a:solidFill>
          <a:ln w="12700">
            <a:solidFill>
              <a:srgbClr val="38B6AB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8317" y="364092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83380" y="27793"/>
                </a:moveTo>
                <a:cubicBezTo>
                  <a:pt x="83380" y="20107"/>
                  <a:pt x="89590" y="13897"/>
                  <a:pt x="97277" y="13897"/>
                </a:cubicBezTo>
                <a:lnTo>
                  <a:pt x="125070" y="13897"/>
                </a:lnTo>
                <a:cubicBezTo>
                  <a:pt x="132756" y="13897"/>
                  <a:pt x="138967" y="20107"/>
                  <a:pt x="138967" y="27793"/>
                </a:cubicBezTo>
                <a:lnTo>
                  <a:pt x="138967" y="55587"/>
                </a:lnTo>
                <a:cubicBezTo>
                  <a:pt x="138967" y="63273"/>
                  <a:pt x="132756" y="69483"/>
                  <a:pt x="125070" y="69483"/>
                </a:cubicBezTo>
                <a:lnTo>
                  <a:pt x="121596" y="69483"/>
                </a:lnTo>
                <a:lnTo>
                  <a:pt x="121596" y="97277"/>
                </a:lnTo>
                <a:lnTo>
                  <a:pt x="173708" y="97277"/>
                </a:lnTo>
                <a:cubicBezTo>
                  <a:pt x="190992" y="97277"/>
                  <a:pt x="204976" y="111260"/>
                  <a:pt x="204976" y="128544"/>
                </a:cubicBezTo>
                <a:lnTo>
                  <a:pt x="204976" y="152863"/>
                </a:lnTo>
                <a:lnTo>
                  <a:pt x="208450" y="152863"/>
                </a:lnTo>
                <a:cubicBezTo>
                  <a:pt x="216136" y="152863"/>
                  <a:pt x="222347" y="159073"/>
                  <a:pt x="222347" y="166760"/>
                </a:cubicBezTo>
                <a:lnTo>
                  <a:pt x="222347" y="194553"/>
                </a:lnTo>
                <a:cubicBezTo>
                  <a:pt x="222347" y="202240"/>
                  <a:pt x="216136" y="208450"/>
                  <a:pt x="208450" y="208450"/>
                </a:cubicBezTo>
                <a:lnTo>
                  <a:pt x="180657" y="208450"/>
                </a:lnTo>
                <a:cubicBezTo>
                  <a:pt x="172970" y="208450"/>
                  <a:pt x="166760" y="202240"/>
                  <a:pt x="166760" y="194553"/>
                </a:cubicBezTo>
                <a:lnTo>
                  <a:pt x="166760" y="166760"/>
                </a:lnTo>
                <a:cubicBezTo>
                  <a:pt x="166760" y="159073"/>
                  <a:pt x="172970" y="152863"/>
                  <a:pt x="180657" y="152863"/>
                </a:cubicBezTo>
                <a:lnTo>
                  <a:pt x="184131" y="152863"/>
                </a:lnTo>
                <a:lnTo>
                  <a:pt x="184131" y="128544"/>
                </a:lnTo>
                <a:cubicBezTo>
                  <a:pt x="184131" y="122768"/>
                  <a:pt x="179484" y="118122"/>
                  <a:pt x="173708" y="118122"/>
                </a:cubicBezTo>
                <a:lnTo>
                  <a:pt x="121596" y="118122"/>
                </a:lnTo>
                <a:lnTo>
                  <a:pt x="121596" y="152863"/>
                </a:lnTo>
                <a:lnTo>
                  <a:pt x="125070" y="152863"/>
                </a:lnTo>
                <a:cubicBezTo>
                  <a:pt x="132756" y="152863"/>
                  <a:pt x="138967" y="159073"/>
                  <a:pt x="138967" y="166760"/>
                </a:cubicBezTo>
                <a:lnTo>
                  <a:pt x="138967" y="194553"/>
                </a:lnTo>
                <a:cubicBezTo>
                  <a:pt x="138967" y="202240"/>
                  <a:pt x="132756" y="208450"/>
                  <a:pt x="125070" y="208450"/>
                </a:cubicBezTo>
                <a:lnTo>
                  <a:pt x="97277" y="208450"/>
                </a:lnTo>
                <a:cubicBezTo>
                  <a:pt x="89590" y="208450"/>
                  <a:pt x="83380" y="202240"/>
                  <a:pt x="83380" y="194553"/>
                </a:cubicBezTo>
                <a:lnTo>
                  <a:pt x="83380" y="166760"/>
                </a:lnTo>
                <a:cubicBezTo>
                  <a:pt x="83380" y="159073"/>
                  <a:pt x="89590" y="152863"/>
                  <a:pt x="97277" y="152863"/>
                </a:cubicBezTo>
                <a:lnTo>
                  <a:pt x="100751" y="152863"/>
                </a:lnTo>
                <a:lnTo>
                  <a:pt x="100751" y="118122"/>
                </a:lnTo>
                <a:lnTo>
                  <a:pt x="48638" y="118122"/>
                </a:lnTo>
                <a:cubicBezTo>
                  <a:pt x="42863" y="118122"/>
                  <a:pt x="38216" y="122768"/>
                  <a:pt x="38216" y="128544"/>
                </a:cubicBezTo>
                <a:lnTo>
                  <a:pt x="38216" y="152863"/>
                </a:lnTo>
                <a:lnTo>
                  <a:pt x="41690" y="152863"/>
                </a:lnTo>
                <a:cubicBezTo>
                  <a:pt x="49377" y="152863"/>
                  <a:pt x="55587" y="159073"/>
                  <a:pt x="55587" y="166760"/>
                </a:cubicBezTo>
                <a:lnTo>
                  <a:pt x="55587" y="194553"/>
                </a:lnTo>
                <a:cubicBezTo>
                  <a:pt x="55587" y="202240"/>
                  <a:pt x="49377" y="208450"/>
                  <a:pt x="41690" y="208450"/>
                </a:cubicBezTo>
                <a:lnTo>
                  <a:pt x="13897" y="208450"/>
                </a:lnTo>
                <a:cubicBezTo>
                  <a:pt x="6210" y="208450"/>
                  <a:pt x="0" y="202240"/>
                  <a:pt x="0" y="194553"/>
                </a:cubicBezTo>
                <a:lnTo>
                  <a:pt x="0" y="166760"/>
                </a:lnTo>
                <a:cubicBezTo>
                  <a:pt x="0" y="159073"/>
                  <a:pt x="6210" y="152863"/>
                  <a:pt x="13897" y="152863"/>
                </a:cubicBezTo>
                <a:lnTo>
                  <a:pt x="17371" y="152863"/>
                </a:lnTo>
                <a:lnTo>
                  <a:pt x="17371" y="128544"/>
                </a:lnTo>
                <a:cubicBezTo>
                  <a:pt x="17371" y="111260"/>
                  <a:pt x="31354" y="97277"/>
                  <a:pt x="48638" y="97277"/>
                </a:cubicBezTo>
                <a:lnTo>
                  <a:pt x="100751" y="97277"/>
                </a:lnTo>
                <a:lnTo>
                  <a:pt x="100751" y="69483"/>
                </a:lnTo>
                <a:lnTo>
                  <a:pt x="97277" y="69483"/>
                </a:lnTo>
                <a:cubicBezTo>
                  <a:pt x="89590" y="69483"/>
                  <a:pt x="83380" y="63273"/>
                  <a:pt x="83380" y="55587"/>
                </a:cubicBezTo>
                <a:lnTo>
                  <a:pt x="83380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369630" y="3622395"/>
            <a:ext cx="135260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Approach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980524" y="3992973"/>
            <a:ext cx="3103587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UML-based analysis with use cases, robustness analysis, and detailed design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375210" y="4748024"/>
            <a:ext cx="6781568" cy="1491574"/>
          </a:xfrm>
          <a:custGeom>
            <a:avLst/>
            <a:gdLst/>
            <a:ahLst/>
            <a:cxnLst/>
            <a:rect l="l" t="t" r="r" b="b"/>
            <a:pathLst>
              <a:path w="6781568" h="1491574">
                <a:moveTo>
                  <a:pt x="74116" y="0"/>
                </a:moveTo>
                <a:lnTo>
                  <a:pt x="6707452" y="0"/>
                </a:lnTo>
                <a:cubicBezTo>
                  <a:pt x="6748385" y="0"/>
                  <a:pt x="6781568" y="33183"/>
                  <a:pt x="6781568" y="74116"/>
                </a:cubicBezTo>
                <a:lnTo>
                  <a:pt x="6781568" y="1417458"/>
                </a:lnTo>
                <a:cubicBezTo>
                  <a:pt x="6781568" y="1458391"/>
                  <a:pt x="6748385" y="1491574"/>
                  <a:pt x="6707452" y="1491574"/>
                </a:cubicBezTo>
                <a:lnTo>
                  <a:pt x="74116" y="1491574"/>
                </a:lnTo>
                <a:cubicBezTo>
                  <a:pt x="33183" y="1491574"/>
                  <a:pt x="0" y="1458391"/>
                  <a:pt x="0" y="1417458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1234" y="4947210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9" name="Text 17"/>
          <p:cNvSpPr/>
          <p:nvPr/>
        </p:nvSpPr>
        <p:spPr>
          <a:xfrm>
            <a:off x="741155" y="4900888"/>
            <a:ext cx="6346140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Objectives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583660" y="5308523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1" name="Text 19"/>
          <p:cNvSpPr/>
          <p:nvPr/>
        </p:nvSpPr>
        <p:spPr>
          <a:xfrm>
            <a:off x="787477" y="5271465"/>
            <a:ext cx="232537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runtime workflow definition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3897144" y="5308523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3" name="Text 21"/>
          <p:cNvSpPr/>
          <p:nvPr/>
        </p:nvSpPr>
        <p:spPr>
          <a:xfrm>
            <a:off x="4100961" y="5271465"/>
            <a:ext cx="239948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execution state persistence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583660" y="5604985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23"/>
          <p:cNvSpPr/>
          <p:nvPr/>
        </p:nvSpPr>
        <p:spPr>
          <a:xfrm>
            <a:off x="787477" y="5567927"/>
            <a:ext cx="234390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conditional branching logic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3897144" y="5604985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100961" y="5567927"/>
            <a:ext cx="225125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plugin-based extensibility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583660" y="5901447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9" name="Text 27"/>
          <p:cNvSpPr/>
          <p:nvPr/>
        </p:nvSpPr>
        <p:spPr>
          <a:xfrm>
            <a:off x="787477" y="5864389"/>
            <a:ext cx="239022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errors and failures gracefully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3897144" y="5901447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31" name="Text 29"/>
          <p:cNvSpPr/>
          <p:nvPr/>
        </p:nvSpPr>
        <p:spPr>
          <a:xfrm>
            <a:off x="4100961" y="5864389"/>
            <a:ext cx="187141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 functional prototype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7354371" y="1116365"/>
            <a:ext cx="4456195" cy="2825653"/>
          </a:xfrm>
          <a:custGeom>
            <a:avLst/>
            <a:gdLst/>
            <a:ahLst/>
            <a:cxnLst/>
            <a:rect l="l" t="t" r="r" b="b"/>
            <a:pathLst>
              <a:path w="4456195" h="2825653">
                <a:moveTo>
                  <a:pt x="74117" y="0"/>
                </a:moveTo>
                <a:lnTo>
                  <a:pt x="4382078" y="0"/>
                </a:lnTo>
                <a:cubicBezTo>
                  <a:pt x="4423011" y="0"/>
                  <a:pt x="4456195" y="33183"/>
                  <a:pt x="4456195" y="74117"/>
                </a:cubicBezTo>
                <a:lnTo>
                  <a:pt x="4456195" y="2751537"/>
                </a:lnTo>
                <a:cubicBezTo>
                  <a:pt x="4456195" y="2792470"/>
                  <a:pt x="4423011" y="2825653"/>
                  <a:pt x="4382078" y="2825653"/>
                </a:cubicBezTo>
                <a:lnTo>
                  <a:pt x="74117" y="2825653"/>
                </a:lnTo>
                <a:cubicBezTo>
                  <a:pt x="33183" y="2825653"/>
                  <a:pt x="0" y="2792470"/>
                  <a:pt x="0" y="2751537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38B6AB">
                  <a:alpha val="10000"/>
                </a:srgbClr>
              </a:gs>
            </a:gsLst>
            <a:lin ang="2700000" scaled="1"/>
          </a:gradFill>
          <a:ln w="12700">
            <a:solidFill>
              <a:srgbClr val="38B6AB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5544" y="1269228"/>
            <a:ext cx="423384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7507234" y="1676863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38B6AB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46201" y="1788036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>
                <a:moveTo>
                  <a:pt x="120640" y="135883"/>
                </a:moveTo>
                <a:cubicBezTo>
                  <a:pt x="124896" y="132974"/>
                  <a:pt x="130802" y="130455"/>
                  <a:pt x="130802" y="130455"/>
                </a:cubicBezTo>
                <a:cubicBezTo>
                  <a:pt x="130802" y="130455"/>
                  <a:pt x="113996" y="133495"/>
                  <a:pt x="97277" y="134884"/>
                </a:cubicBezTo>
                <a:cubicBezTo>
                  <a:pt x="76822" y="136578"/>
                  <a:pt x="54848" y="136925"/>
                  <a:pt x="43818" y="135449"/>
                </a:cubicBezTo>
                <a:cubicBezTo>
                  <a:pt x="17718" y="131975"/>
                  <a:pt x="58149" y="122377"/>
                  <a:pt x="58149" y="122377"/>
                </a:cubicBezTo>
                <a:cubicBezTo>
                  <a:pt x="58149" y="122377"/>
                  <a:pt x="42472" y="121335"/>
                  <a:pt x="23147" y="130629"/>
                </a:cubicBezTo>
                <a:cubicBezTo>
                  <a:pt x="347" y="141659"/>
                  <a:pt x="79602" y="146697"/>
                  <a:pt x="120640" y="135883"/>
                </a:cubicBezTo>
                <a:close/>
                <a:moveTo>
                  <a:pt x="83554" y="121943"/>
                </a:moveTo>
                <a:cubicBezTo>
                  <a:pt x="75303" y="103400"/>
                  <a:pt x="47466" y="87115"/>
                  <a:pt x="83554" y="58627"/>
                </a:cubicBezTo>
                <a:cubicBezTo>
                  <a:pt x="128588" y="23103"/>
                  <a:pt x="105484" y="0"/>
                  <a:pt x="105484" y="0"/>
                </a:cubicBezTo>
                <a:cubicBezTo>
                  <a:pt x="114821" y="36696"/>
                  <a:pt x="72653" y="47813"/>
                  <a:pt x="57411" y="70612"/>
                </a:cubicBezTo>
                <a:cubicBezTo>
                  <a:pt x="47031" y="86203"/>
                  <a:pt x="62492" y="102922"/>
                  <a:pt x="83554" y="121943"/>
                </a:cubicBezTo>
                <a:close/>
                <a:moveTo>
                  <a:pt x="133321" y="45425"/>
                </a:moveTo>
                <a:cubicBezTo>
                  <a:pt x="133364" y="45425"/>
                  <a:pt x="57237" y="64446"/>
                  <a:pt x="93585" y="106309"/>
                </a:cubicBezTo>
                <a:cubicBezTo>
                  <a:pt x="104312" y="118643"/>
                  <a:pt x="90763" y="129760"/>
                  <a:pt x="90763" y="129760"/>
                </a:cubicBezTo>
                <a:cubicBezTo>
                  <a:pt x="90763" y="129760"/>
                  <a:pt x="117991" y="115690"/>
                  <a:pt x="105484" y="98102"/>
                </a:cubicBezTo>
                <a:cubicBezTo>
                  <a:pt x="93802" y="81686"/>
                  <a:pt x="84856" y="73522"/>
                  <a:pt x="133321" y="45425"/>
                </a:cubicBezTo>
                <a:close/>
                <a:moveTo>
                  <a:pt x="130672" y="162895"/>
                </a:moveTo>
                <a:cubicBezTo>
                  <a:pt x="130455" y="163329"/>
                  <a:pt x="130151" y="163677"/>
                  <a:pt x="129803" y="164024"/>
                </a:cubicBezTo>
                <a:cubicBezTo>
                  <a:pt x="185520" y="149389"/>
                  <a:pt x="165023" y="112389"/>
                  <a:pt x="138402" y="121769"/>
                </a:cubicBezTo>
                <a:cubicBezTo>
                  <a:pt x="136969" y="122291"/>
                  <a:pt x="135710" y="123246"/>
                  <a:pt x="134841" y="124505"/>
                </a:cubicBezTo>
                <a:cubicBezTo>
                  <a:pt x="136404" y="123941"/>
                  <a:pt x="138011" y="123507"/>
                  <a:pt x="139618" y="123203"/>
                </a:cubicBezTo>
                <a:cubicBezTo>
                  <a:pt x="153080" y="120380"/>
                  <a:pt x="172405" y="141225"/>
                  <a:pt x="130672" y="162895"/>
                </a:cubicBezTo>
                <a:close/>
                <a:moveTo>
                  <a:pt x="151126" y="189950"/>
                </a:moveTo>
                <a:cubicBezTo>
                  <a:pt x="151126" y="189950"/>
                  <a:pt x="157423" y="195118"/>
                  <a:pt x="144221" y="199156"/>
                </a:cubicBezTo>
                <a:cubicBezTo>
                  <a:pt x="119077" y="206756"/>
                  <a:pt x="39649" y="209058"/>
                  <a:pt x="17588" y="199460"/>
                </a:cubicBezTo>
                <a:cubicBezTo>
                  <a:pt x="9641" y="196030"/>
                  <a:pt x="24536" y="191209"/>
                  <a:pt x="29226" y="190210"/>
                </a:cubicBezTo>
                <a:cubicBezTo>
                  <a:pt x="34090" y="189168"/>
                  <a:pt x="36913" y="189342"/>
                  <a:pt x="36913" y="189342"/>
                </a:cubicBezTo>
                <a:cubicBezTo>
                  <a:pt x="28097" y="183132"/>
                  <a:pt x="-20107" y="201545"/>
                  <a:pt x="12420" y="206800"/>
                </a:cubicBezTo>
                <a:cubicBezTo>
                  <a:pt x="101098" y="221217"/>
                  <a:pt x="174142" y="200329"/>
                  <a:pt x="151126" y="189950"/>
                </a:cubicBezTo>
                <a:close/>
                <a:moveTo>
                  <a:pt x="54067" y="171971"/>
                </a:moveTo>
                <a:cubicBezTo>
                  <a:pt x="19890" y="181525"/>
                  <a:pt x="74868" y="201241"/>
                  <a:pt x="118382" y="182611"/>
                </a:cubicBezTo>
                <a:cubicBezTo>
                  <a:pt x="114126" y="180961"/>
                  <a:pt x="110044" y="178963"/>
                  <a:pt x="106136" y="176618"/>
                </a:cubicBezTo>
                <a:cubicBezTo>
                  <a:pt x="86724" y="180309"/>
                  <a:pt x="77734" y="180570"/>
                  <a:pt x="60103" y="178572"/>
                </a:cubicBezTo>
                <a:cubicBezTo>
                  <a:pt x="45555" y="176922"/>
                  <a:pt x="54067" y="171971"/>
                  <a:pt x="54067" y="171971"/>
                </a:cubicBezTo>
                <a:close/>
                <a:moveTo>
                  <a:pt x="132149" y="214182"/>
                </a:moveTo>
                <a:cubicBezTo>
                  <a:pt x="97971" y="220609"/>
                  <a:pt x="55804" y="219871"/>
                  <a:pt x="30833" y="215746"/>
                </a:cubicBezTo>
                <a:cubicBezTo>
                  <a:pt x="30833" y="215702"/>
                  <a:pt x="35958" y="219958"/>
                  <a:pt x="62274" y="221652"/>
                </a:cubicBezTo>
                <a:cubicBezTo>
                  <a:pt x="102314" y="224214"/>
                  <a:pt x="163807" y="220219"/>
                  <a:pt x="165240" y="201284"/>
                </a:cubicBezTo>
                <a:cubicBezTo>
                  <a:pt x="165240" y="201284"/>
                  <a:pt x="162461" y="208450"/>
                  <a:pt x="132149" y="214182"/>
                </a:cubicBezTo>
                <a:close/>
                <a:moveTo>
                  <a:pt x="113214" y="153297"/>
                </a:moveTo>
                <a:cubicBezTo>
                  <a:pt x="87506" y="158248"/>
                  <a:pt x="72610" y="158118"/>
                  <a:pt x="53806" y="156164"/>
                </a:cubicBezTo>
                <a:cubicBezTo>
                  <a:pt x="39258" y="154644"/>
                  <a:pt x="48769" y="147609"/>
                  <a:pt x="48769" y="147609"/>
                </a:cubicBezTo>
                <a:cubicBezTo>
                  <a:pt x="11074" y="160116"/>
                  <a:pt x="69700" y="174273"/>
                  <a:pt x="122377" y="158856"/>
                </a:cubicBezTo>
                <a:cubicBezTo>
                  <a:pt x="118990" y="157640"/>
                  <a:pt x="115863" y="155773"/>
                  <a:pt x="113214" y="153297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36" name="Text 34"/>
          <p:cNvSpPr/>
          <p:nvPr/>
        </p:nvSpPr>
        <p:spPr>
          <a:xfrm>
            <a:off x="8063101" y="1695392"/>
            <a:ext cx="366871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8063101" y="1917739"/>
            <a:ext cx="3659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Language</a:t>
            </a:r>
            <a:endParaRPr lang="en-US" sz="1600"/>
          </a:p>
        </p:txBody>
      </p:sp>
      <p:sp>
        <p:nvSpPr>
          <p:cNvPr id="38" name="Shape 36"/>
          <p:cNvSpPr/>
          <p:nvPr/>
        </p:nvSpPr>
        <p:spPr>
          <a:xfrm>
            <a:off x="7507234" y="2232729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18408" y="2343903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0" y="34742"/>
                </a:moveTo>
                <a:cubicBezTo>
                  <a:pt x="0" y="23233"/>
                  <a:pt x="9337" y="13897"/>
                  <a:pt x="20845" y="13897"/>
                </a:cubicBezTo>
                <a:lnTo>
                  <a:pt x="62535" y="13897"/>
                </a:lnTo>
                <a:cubicBezTo>
                  <a:pt x="74043" y="13897"/>
                  <a:pt x="83380" y="23233"/>
                  <a:pt x="83380" y="34742"/>
                </a:cubicBezTo>
                <a:lnTo>
                  <a:pt x="83380" y="41690"/>
                </a:lnTo>
                <a:lnTo>
                  <a:pt x="138967" y="41690"/>
                </a:lnTo>
                <a:lnTo>
                  <a:pt x="138967" y="34742"/>
                </a:lnTo>
                <a:cubicBezTo>
                  <a:pt x="138967" y="23233"/>
                  <a:pt x="148303" y="13897"/>
                  <a:pt x="159812" y="13897"/>
                </a:cubicBezTo>
                <a:lnTo>
                  <a:pt x="201502" y="13897"/>
                </a:lnTo>
                <a:cubicBezTo>
                  <a:pt x="213010" y="13897"/>
                  <a:pt x="222347" y="23233"/>
                  <a:pt x="222347" y="34742"/>
                </a:cubicBezTo>
                <a:lnTo>
                  <a:pt x="222347" y="76432"/>
                </a:lnTo>
                <a:cubicBezTo>
                  <a:pt x="222347" y="87940"/>
                  <a:pt x="213010" y="97277"/>
                  <a:pt x="201502" y="97277"/>
                </a:cubicBezTo>
                <a:lnTo>
                  <a:pt x="159812" y="97277"/>
                </a:lnTo>
                <a:cubicBezTo>
                  <a:pt x="148303" y="97277"/>
                  <a:pt x="138967" y="87940"/>
                  <a:pt x="138967" y="76432"/>
                </a:cubicBezTo>
                <a:lnTo>
                  <a:pt x="138967" y="69483"/>
                </a:lnTo>
                <a:lnTo>
                  <a:pt x="83380" y="69483"/>
                </a:lnTo>
                <a:lnTo>
                  <a:pt x="83380" y="76432"/>
                </a:lnTo>
                <a:cubicBezTo>
                  <a:pt x="83380" y="79602"/>
                  <a:pt x="82642" y="82642"/>
                  <a:pt x="81382" y="85334"/>
                </a:cubicBezTo>
                <a:lnTo>
                  <a:pt x="111173" y="125070"/>
                </a:lnTo>
                <a:lnTo>
                  <a:pt x="145915" y="125070"/>
                </a:lnTo>
                <a:cubicBezTo>
                  <a:pt x="157423" y="125070"/>
                  <a:pt x="166760" y="134407"/>
                  <a:pt x="166760" y="145915"/>
                </a:cubicBezTo>
                <a:lnTo>
                  <a:pt x="166760" y="187605"/>
                </a:lnTo>
                <a:cubicBezTo>
                  <a:pt x="166760" y="199113"/>
                  <a:pt x="157423" y="208450"/>
                  <a:pt x="145915" y="208450"/>
                </a:cubicBezTo>
                <a:lnTo>
                  <a:pt x="104225" y="208450"/>
                </a:lnTo>
                <a:cubicBezTo>
                  <a:pt x="92717" y="208450"/>
                  <a:pt x="83380" y="199113"/>
                  <a:pt x="83380" y="187605"/>
                </a:cubicBezTo>
                <a:lnTo>
                  <a:pt x="83380" y="145915"/>
                </a:lnTo>
                <a:cubicBezTo>
                  <a:pt x="83380" y="142745"/>
                  <a:pt x="84118" y="139705"/>
                  <a:pt x="85378" y="137012"/>
                </a:cubicBezTo>
                <a:lnTo>
                  <a:pt x="55587" y="97277"/>
                </a:lnTo>
                <a:lnTo>
                  <a:pt x="20845" y="97277"/>
                </a:lnTo>
                <a:cubicBezTo>
                  <a:pt x="9337" y="97277"/>
                  <a:pt x="0" y="87940"/>
                  <a:pt x="0" y="76432"/>
                </a:cubicBezTo>
                <a:lnTo>
                  <a:pt x="0" y="3474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0" name="Text 38"/>
          <p:cNvSpPr/>
          <p:nvPr/>
        </p:nvSpPr>
        <p:spPr>
          <a:xfrm>
            <a:off x="8063101" y="2251258"/>
            <a:ext cx="366871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 2.5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8063101" y="2473605"/>
            <a:ext cx="3659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 Standard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>
          <a:xfrm>
            <a:off x="7507234" y="2788596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7D8A9B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618408" y="2899769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23333" y="-565"/>
                </a:moveTo>
                <a:cubicBezTo>
                  <a:pt x="115820" y="-4907"/>
                  <a:pt x="106527" y="-4907"/>
                  <a:pt x="99014" y="-565"/>
                </a:cubicBezTo>
                <a:lnTo>
                  <a:pt x="62448" y="20541"/>
                </a:lnTo>
                <a:cubicBezTo>
                  <a:pt x="54935" y="24884"/>
                  <a:pt x="50289" y="32918"/>
                  <a:pt x="50289" y="41603"/>
                </a:cubicBezTo>
                <a:lnTo>
                  <a:pt x="50289" y="85855"/>
                </a:lnTo>
                <a:lnTo>
                  <a:pt x="11942" y="108003"/>
                </a:lnTo>
                <a:cubicBezTo>
                  <a:pt x="4430" y="112346"/>
                  <a:pt x="-217" y="120380"/>
                  <a:pt x="-217" y="129065"/>
                </a:cubicBezTo>
                <a:lnTo>
                  <a:pt x="-217" y="171320"/>
                </a:lnTo>
                <a:cubicBezTo>
                  <a:pt x="-217" y="180005"/>
                  <a:pt x="4430" y="188039"/>
                  <a:pt x="11942" y="192382"/>
                </a:cubicBezTo>
                <a:lnTo>
                  <a:pt x="48551" y="213487"/>
                </a:lnTo>
                <a:cubicBezTo>
                  <a:pt x="56064" y="217830"/>
                  <a:pt x="65358" y="217830"/>
                  <a:pt x="72871" y="213487"/>
                </a:cubicBezTo>
                <a:lnTo>
                  <a:pt x="111217" y="191340"/>
                </a:lnTo>
                <a:lnTo>
                  <a:pt x="149563" y="213487"/>
                </a:lnTo>
                <a:cubicBezTo>
                  <a:pt x="157076" y="217830"/>
                  <a:pt x="166369" y="217830"/>
                  <a:pt x="173882" y="213487"/>
                </a:cubicBezTo>
                <a:lnTo>
                  <a:pt x="210404" y="192382"/>
                </a:lnTo>
                <a:cubicBezTo>
                  <a:pt x="217917" y="188039"/>
                  <a:pt x="222564" y="180005"/>
                  <a:pt x="222564" y="171320"/>
                </a:cubicBezTo>
                <a:lnTo>
                  <a:pt x="222564" y="129065"/>
                </a:lnTo>
                <a:cubicBezTo>
                  <a:pt x="222564" y="120380"/>
                  <a:pt x="217917" y="112346"/>
                  <a:pt x="210404" y="108003"/>
                </a:cubicBezTo>
                <a:lnTo>
                  <a:pt x="172058" y="85855"/>
                </a:lnTo>
                <a:lnTo>
                  <a:pt x="172058" y="41603"/>
                </a:lnTo>
                <a:cubicBezTo>
                  <a:pt x="172058" y="32918"/>
                  <a:pt x="167411" y="24884"/>
                  <a:pt x="159898" y="20541"/>
                </a:cubicBezTo>
                <a:lnTo>
                  <a:pt x="123333" y="-565"/>
                </a:lnTo>
                <a:close/>
                <a:moveTo>
                  <a:pt x="100751" y="127068"/>
                </a:moveTo>
                <a:lnTo>
                  <a:pt x="100751" y="173317"/>
                </a:lnTo>
                <a:lnTo>
                  <a:pt x="62405" y="195465"/>
                </a:lnTo>
                <a:cubicBezTo>
                  <a:pt x="61884" y="195769"/>
                  <a:pt x="61276" y="195943"/>
                  <a:pt x="60668" y="195943"/>
                </a:cubicBezTo>
                <a:lnTo>
                  <a:pt x="60668" y="150214"/>
                </a:lnTo>
                <a:lnTo>
                  <a:pt x="100751" y="127068"/>
                </a:lnTo>
                <a:close/>
                <a:moveTo>
                  <a:pt x="201241" y="127328"/>
                </a:moveTo>
                <a:cubicBezTo>
                  <a:pt x="201545" y="127849"/>
                  <a:pt x="201719" y="128457"/>
                  <a:pt x="201719" y="129065"/>
                </a:cubicBezTo>
                <a:lnTo>
                  <a:pt x="201719" y="171320"/>
                </a:lnTo>
                <a:cubicBezTo>
                  <a:pt x="201719" y="172579"/>
                  <a:pt x="201067" y="173708"/>
                  <a:pt x="199982" y="174316"/>
                </a:cubicBezTo>
                <a:lnTo>
                  <a:pt x="163373" y="195422"/>
                </a:lnTo>
                <a:cubicBezTo>
                  <a:pt x="162851" y="195726"/>
                  <a:pt x="162243" y="195899"/>
                  <a:pt x="161635" y="195899"/>
                </a:cubicBezTo>
                <a:lnTo>
                  <a:pt x="161635" y="150171"/>
                </a:lnTo>
                <a:lnTo>
                  <a:pt x="201241" y="127328"/>
                </a:lnTo>
                <a:close/>
                <a:moveTo>
                  <a:pt x="151256" y="41603"/>
                </a:moveTo>
                <a:lnTo>
                  <a:pt x="151256" y="85855"/>
                </a:lnTo>
                <a:lnTo>
                  <a:pt x="111173" y="109002"/>
                </a:lnTo>
                <a:lnTo>
                  <a:pt x="111173" y="62752"/>
                </a:lnTo>
                <a:lnTo>
                  <a:pt x="150779" y="39909"/>
                </a:lnTo>
                <a:cubicBezTo>
                  <a:pt x="151083" y="40431"/>
                  <a:pt x="151256" y="41039"/>
                  <a:pt x="151256" y="41647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4" name="Text 42"/>
          <p:cNvSpPr/>
          <p:nvPr/>
        </p:nvSpPr>
        <p:spPr>
          <a:xfrm>
            <a:off x="8063101" y="2807125"/>
            <a:ext cx="366871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OOAD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8063101" y="3029471"/>
            <a:ext cx="3659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Methodology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7507234" y="3344462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38B6AB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32304" y="3455635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55587" y="-13897"/>
                </a:moveTo>
                <a:cubicBezTo>
                  <a:pt x="63273" y="-13897"/>
                  <a:pt x="69483" y="-7687"/>
                  <a:pt x="69483" y="0"/>
                </a:cubicBezTo>
                <a:lnTo>
                  <a:pt x="69483" y="41690"/>
                </a:lnTo>
                <a:lnTo>
                  <a:pt x="125070" y="41690"/>
                </a:lnTo>
                <a:lnTo>
                  <a:pt x="125070" y="0"/>
                </a:lnTo>
                <a:cubicBezTo>
                  <a:pt x="125070" y="-7687"/>
                  <a:pt x="131280" y="-13897"/>
                  <a:pt x="138967" y="-13897"/>
                </a:cubicBezTo>
                <a:cubicBezTo>
                  <a:pt x="146653" y="-13897"/>
                  <a:pt x="152863" y="-7687"/>
                  <a:pt x="152863" y="0"/>
                </a:cubicBezTo>
                <a:lnTo>
                  <a:pt x="152863" y="41690"/>
                </a:lnTo>
                <a:lnTo>
                  <a:pt x="180657" y="41690"/>
                </a:lnTo>
                <a:cubicBezTo>
                  <a:pt x="188343" y="41690"/>
                  <a:pt x="194553" y="47900"/>
                  <a:pt x="194553" y="55587"/>
                </a:cubicBezTo>
                <a:cubicBezTo>
                  <a:pt x="194553" y="63273"/>
                  <a:pt x="188343" y="69483"/>
                  <a:pt x="180657" y="69483"/>
                </a:cubicBezTo>
                <a:lnTo>
                  <a:pt x="180657" y="97277"/>
                </a:lnTo>
                <a:cubicBezTo>
                  <a:pt x="180657" y="138576"/>
                  <a:pt x="150605" y="172883"/>
                  <a:pt x="111173" y="179484"/>
                </a:cubicBezTo>
                <a:lnTo>
                  <a:pt x="111173" y="208450"/>
                </a:lnTo>
                <a:cubicBezTo>
                  <a:pt x="111173" y="216136"/>
                  <a:pt x="104963" y="222347"/>
                  <a:pt x="97277" y="222347"/>
                </a:cubicBezTo>
                <a:cubicBezTo>
                  <a:pt x="89590" y="222347"/>
                  <a:pt x="83380" y="216136"/>
                  <a:pt x="83380" y="208450"/>
                </a:cubicBezTo>
                <a:lnTo>
                  <a:pt x="83380" y="179484"/>
                </a:lnTo>
                <a:cubicBezTo>
                  <a:pt x="43948" y="172883"/>
                  <a:pt x="13897" y="138576"/>
                  <a:pt x="13897" y="97277"/>
                </a:cubicBezTo>
                <a:lnTo>
                  <a:pt x="13897" y="69483"/>
                </a:lnTo>
                <a:cubicBezTo>
                  <a:pt x="6210" y="69483"/>
                  <a:pt x="0" y="63273"/>
                  <a:pt x="0" y="55587"/>
                </a:cubicBezTo>
                <a:cubicBezTo>
                  <a:pt x="0" y="47900"/>
                  <a:pt x="6210" y="41690"/>
                  <a:pt x="13897" y="41690"/>
                </a:cubicBezTo>
                <a:lnTo>
                  <a:pt x="41690" y="41690"/>
                </a:lnTo>
                <a:lnTo>
                  <a:pt x="41690" y="0"/>
                </a:lnTo>
                <a:cubicBezTo>
                  <a:pt x="41690" y="-7687"/>
                  <a:pt x="47900" y="-13897"/>
                  <a:pt x="55587" y="-13897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48" name="Text 46"/>
          <p:cNvSpPr/>
          <p:nvPr/>
        </p:nvSpPr>
        <p:spPr>
          <a:xfrm>
            <a:off x="8063101" y="3362991"/>
            <a:ext cx="366871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API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8063101" y="3585337"/>
            <a:ext cx="3659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 Framework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03 / Use Case Diagram</a:t>
            </a:r>
            <a:endParaRPr lang="en-US" sz="950">
              <a:latin typeface="Li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9116" y="610498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Use Case mode</a:t>
            </a:r>
            <a:endParaRPr lang="en-US"/>
          </a:p>
        </p:txBody>
      </p:sp>
      <p:pic>
        <p:nvPicPr>
          <p:cNvPr id="11" name="Picture 10" descr="A diagram of workflow&#10;&#10;AI-generated content may be incorrect.">
            <a:extLst>
              <a:ext uri="{FF2B5EF4-FFF2-40B4-BE49-F238E27FC236}">
                <a16:creationId xmlns:a16="http://schemas.microsoft.com/office/drawing/2014/main" id="{0468CEC9-B643-84F9-5A63-465EDD3E9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216" y="354965"/>
            <a:ext cx="7474138" cy="6341110"/>
          </a:xfrm>
          <a:prstGeom prst="rect">
            <a:avLst/>
          </a:prstGeom>
        </p:spPr>
      </p:pic>
      <p:sp>
        <p:nvSpPr>
          <p:cNvPr id="13" name="Shape 4">
            <a:extLst>
              <a:ext uri="{FF2B5EF4-FFF2-40B4-BE49-F238E27FC236}">
                <a16:creationId xmlns:a16="http://schemas.microsoft.com/office/drawing/2014/main" id="{1A827FA5-5805-39D5-97FD-EC3DCD2315A3}"/>
              </a:ext>
            </a:extLst>
          </p:cNvPr>
          <p:cNvSpPr/>
          <p:nvPr/>
        </p:nvSpPr>
        <p:spPr>
          <a:xfrm>
            <a:off x="56957" y="1141040"/>
            <a:ext cx="4179794" cy="1070722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8533F163-F35B-E4F5-D399-8FB19C23458C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8912DA52-B68C-D20B-4FD5-529F892D313D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Primary Actor</a:t>
            </a: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0B63DF9-16E7-1392-211F-A3D85F6F2339}"/>
              </a:ext>
            </a:extLst>
          </p:cNvPr>
          <p:cNvSpPr/>
          <p:nvPr/>
        </p:nvSpPr>
        <p:spPr>
          <a:xfrm>
            <a:off x="184984" y="1564902"/>
            <a:ext cx="3963522" cy="563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chemeClr val="bg1"/>
                </a:solidFill>
                <a:latin typeface="Quattrocento Sans"/>
              </a:rPr>
              <a:t>Workflow Designer – Models Business Processes by defining workflows composed of steps and conditional transitions, independent of executions</a:t>
            </a: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9072E9EE-69B2-214A-E7C3-1B6A142BAAD0}"/>
              </a:ext>
            </a:extLst>
          </p:cNvPr>
          <p:cNvSpPr/>
          <p:nvPr/>
        </p:nvSpPr>
        <p:spPr>
          <a:xfrm>
            <a:off x="56957" y="2420471"/>
            <a:ext cx="4179794" cy="1994087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D9CAF26-1217-15CF-CC7D-FDFD8AA9620C}"/>
              </a:ext>
            </a:extLst>
          </p:cNvPr>
          <p:cNvSpPr/>
          <p:nvPr/>
        </p:nvSpPr>
        <p:spPr>
          <a:xfrm>
            <a:off x="176020" y="2577634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68D9651A-F3F4-0D29-C5C8-7E95B68701C4}"/>
              </a:ext>
            </a:extLst>
          </p:cNvPr>
          <p:cNvSpPr/>
          <p:nvPr/>
        </p:nvSpPr>
        <p:spPr>
          <a:xfrm>
            <a:off x="366520" y="2539534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</a:rPr>
              <a:t>Secondary Actors</a:t>
            </a: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AFF26E62-4D4E-4100-E59B-E15FEC8C33AD}"/>
              </a:ext>
            </a:extLst>
          </p:cNvPr>
          <p:cNvSpPr/>
          <p:nvPr/>
        </p:nvSpPr>
        <p:spPr>
          <a:xfrm>
            <a:off x="184984" y="2790546"/>
            <a:ext cx="3963522" cy="154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chemeClr val="bg1"/>
                </a:solidFill>
                <a:latin typeface="Quattrocento Sans"/>
              </a:rPr>
              <a:t>Workflow Engine – Executes workflow instances, executes conditions at runtime, and maintains workflow execution state.</a:t>
            </a:r>
          </a:p>
          <a:p>
            <a:pPr>
              <a:lnSpc>
                <a:spcPct val="140000"/>
              </a:lnSpc>
            </a:pPr>
            <a:r>
              <a:rPr lang="en-US" sz="1150">
                <a:solidFill>
                  <a:schemeClr val="bg1"/>
                </a:solidFill>
                <a:latin typeface="Quattrocento Sans"/>
              </a:rPr>
              <a:t>Systems Administrator – maintains and extends the engine by adding new steps and system configurations without changing the core logic</a:t>
            </a: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66CDCADC-8E40-8293-F4FD-ADAAD660FE96}"/>
              </a:ext>
            </a:extLst>
          </p:cNvPr>
          <p:cNvSpPr/>
          <p:nvPr/>
        </p:nvSpPr>
        <p:spPr>
          <a:xfrm>
            <a:off x="39028" y="4614303"/>
            <a:ext cx="4179794" cy="2105891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3" name="Shape 13">
            <a:extLst>
              <a:ext uri="{FF2B5EF4-FFF2-40B4-BE49-F238E27FC236}">
                <a16:creationId xmlns:a16="http://schemas.microsoft.com/office/drawing/2014/main" id="{89F7A279-2D7E-A9F7-58BA-67020EFD91DD}"/>
              </a:ext>
            </a:extLst>
          </p:cNvPr>
          <p:cNvSpPr/>
          <p:nvPr/>
        </p:nvSpPr>
        <p:spPr>
          <a:xfrm>
            <a:off x="186666" y="4771465"/>
            <a:ext cx="133350" cy="296173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F2447730-7C3F-AE22-4828-B875B65B90C7}"/>
              </a:ext>
            </a:extLst>
          </p:cNvPr>
          <p:cNvSpPr/>
          <p:nvPr/>
        </p:nvSpPr>
        <p:spPr>
          <a:xfrm>
            <a:off x="348591" y="4733365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</a:rPr>
              <a:t>Use Cases</a:t>
            </a:r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B2BB16B4-F5D3-12B5-69B9-23866E7CF95B}"/>
              </a:ext>
            </a:extLst>
          </p:cNvPr>
          <p:cNvSpPr/>
          <p:nvPr/>
        </p:nvSpPr>
        <p:spPr>
          <a:xfrm>
            <a:off x="158091" y="5038165"/>
            <a:ext cx="3981450" cy="919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chemeClr val="bg1"/>
                </a:solidFill>
                <a:latin typeface="Quattrocento Sans"/>
                <a:ea typeface="+mn-lt"/>
                <a:cs typeface="+mn-lt"/>
              </a:rPr>
              <a:t>Define Workflow, Execute Workflow, Evaluate Conditions Manage Execution State, Handle Completion / Failure Extend Workflow Engine</a:t>
            </a:r>
            <a:endParaRPr lang="en-US" sz="110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51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04 / Robustness Diagrams</a:t>
            </a:r>
            <a:endParaRPr lang="en-US" sz="1000" dirty="0">
              <a:latin typeface="Li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8617" y="626649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2600" b="1" dirty="0">
                <a:solidFill>
                  <a:srgbClr val="E0E6EB"/>
                </a:solidFill>
                <a:latin typeface="Liter"/>
              </a:rPr>
              <a:t>Robustness Diagram : Define Workflow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8340E242-72B1-30EF-14EA-32F16AEB1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89" y="2383029"/>
            <a:ext cx="11738932" cy="2991652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A3C979BE-7B90-39F6-E991-745013A67BA6}"/>
              </a:ext>
            </a:extLst>
          </p:cNvPr>
          <p:cNvSpPr/>
          <p:nvPr/>
        </p:nvSpPr>
        <p:spPr>
          <a:xfrm>
            <a:off x="276791" y="1216035"/>
            <a:ext cx="11253016" cy="91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bg1"/>
                </a:solidFill>
                <a:latin typeface="Quattrocento Sans"/>
                <a:ea typeface="+mn-lt"/>
                <a:cs typeface="+mn-lt"/>
              </a:rPr>
              <a:t>This diagram focuses on the Workflow Designer interacting with the system to create a new process template.</a:t>
            </a:r>
            <a:endParaRPr 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0B276-509F-F440-A220-55AD26AF7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18348B-1018-1AD3-F869-FA78CBEC3115}"/>
              </a:ext>
            </a:extLst>
          </p:cNvPr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51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04 / Robustness Diagrams</a:t>
            </a:r>
            <a:endParaRPr lang="en-US" sz="1000" dirty="0">
              <a:solidFill>
                <a:srgbClr val="000000"/>
              </a:solidFill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DF80EE-49BB-44A5-F581-19038A52A4E2}"/>
              </a:ext>
            </a:extLst>
          </p:cNvPr>
          <p:cNvSpPr/>
          <p:nvPr/>
        </p:nvSpPr>
        <p:spPr>
          <a:xfrm>
            <a:off x="368617" y="626649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>
                <a:solidFill>
                  <a:srgbClr val="E0E6EB"/>
                </a:solidFill>
                <a:latin typeface="Liter"/>
              </a:rPr>
              <a:t>2. Robustness diagram – Manage Execution State</a:t>
            </a:r>
            <a:endParaRPr lang="en-US" sz="2600" b="1">
              <a:solidFill>
                <a:srgbClr val="E0E6EB"/>
              </a:solidFill>
              <a:latin typeface="Liter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13614-2851-BEE2-F6FF-2AD69C9F3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13" y="3120030"/>
            <a:ext cx="11602139" cy="3474110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E3B6C210-EFC1-CAA4-E4D2-9111C3213237}"/>
              </a:ext>
            </a:extLst>
          </p:cNvPr>
          <p:cNvSpPr/>
          <p:nvPr/>
        </p:nvSpPr>
        <p:spPr>
          <a:xfrm>
            <a:off x="196581" y="1326324"/>
            <a:ext cx="11333226" cy="1584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Quattrocento Sans"/>
                <a:ea typeface="+mn-lt"/>
                <a:cs typeface="+mn-lt"/>
              </a:rPr>
              <a:t>State Controller</a:t>
            </a:r>
            <a:r>
              <a:rPr lang="en-US" sz="1600" dirty="0">
                <a:solidFill>
                  <a:schemeClr val="bg1"/>
                </a:solidFill>
                <a:latin typeface="Quattrocento Sans"/>
                <a:ea typeface="+mn-lt"/>
                <a:cs typeface="+mn-lt"/>
              </a:rPr>
              <a:t> - This control object acts as the logic layer that ensures the "current step" is never updated without first verifying the transition logic.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Execution State</a:t>
            </a:r>
            <a:r>
              <a:rPr lang="en-US" sz="1600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: This entity stores volatile data (like variables or the current index) during the run.</a:t>
            </a:r>
          </a:p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en-US" sz="1600" b="1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Execution History:</a:t>
            </a: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 This entity provides the "execution history" mentioned in your project description, allowing for auditing after the workflow finishes.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3881526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1573D0-CC05-6751-328E-2293F59A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805796-4234-06A1-4380-833CB4CCBA41}"/>
              </a:ext>
            </a:extLst>
          </p:cNvPr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51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04 / Robustness Diagrams</a:t>
            </a:r>
            <a:endParaRPr lang="en-US" sz="1000">
              <a:solidFill>
                <a:srgbClr val="000000"/>
              </a:solidFill>
              <a:latin typeface="Liter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F754AF-DBD9-A73B-0F45-4E8FFF8608CB}"/>
              </a:ext>
            </a:extLst>
          </p:cNvPr>
          <p:cNvSpPr/>
          <p:nvPr/>
        </p:nvSpPr>
        <p:spPr>
          <a:xfrm>
            <a:off x="368617" y="626649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>
                <a:solidFill>
                  <a:srgbClr val="E0E6EB"/>
                </a:solidFill>
                <a:latin typeface="Liter"/>
              </a:rPr>
              <a:t>3. Robustness Diagram : Handle Completion/ Failure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1C72C0A-951B-B85E-B12E-14270BE41760}"/>
              </a:ext>
            </a:extLst>
          </p:cNvPr>
          <p:cNvSpPr/>
          <p:nvPr/>
        </p:nvSpPr>
        <p:spPr>
          <a:xfrm>
            <a:off x="276791" y="1216035"/>
            <a:ext cx="11253016" cy="91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bg1"/>
                </a:solidFill>
                <a:latin typeface="Quattrocento Sans"/>
                <a:ea typeface="+mn-lt"/>
                <a:cs typeface="+mn-lt"/>
              </a:rPr>
              <a:t>This ensures the system handles the end of a lifecycle consistently.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 descr="A diagram of a state finalizer&#10;&#10;AI-generated content may be incorrect.">
            <a:extLst>
              <a:ext uri="{FF2B5EF4-FFF2-40B4-BE49-F238E27FC236}">
                <a16:creationId xmlns:a16="http://schemas.microsoft.com/office/drawing/2014/main" id="{DBFB3896-F3D6-0530-6BAC-2A595B54F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2557462"/>
            <a:ext cx="11830739" cy="337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4813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9B905-855F-4F68-D8CC-5A7D6ECC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85A1D2-051F-01B2-2197-2EB48F262157}"/>
              </a:ext>
            </a:extLst>
          </p:cNvPr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51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04 / Robustness Diagrams</a:t>
            </a:r>
            <a:endParaRPr lang="en-US" sz="100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19F90A-72ED-10DC-0F3D-F9D99DC9CB42}"/>
              </a:ext>
            </a:extLst>
          </p:cNvPr>
          <p:cNvSpPr/>
          <p:nvPr/>
        </p:nvSpPr>
        <p:spPr>
          <a:xfrm>
            <a:off x="368617" y="626649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>
                <a:solidFill>
                  <a:srgbClr val="E0E6EB"/>
                </a:solidFill>
                <a:latin typeface="Liter"/>
              </a:rPr>
              <a:t>4. Robustness Diagram : Execute Workflow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A diagram of a report completion&#10;&#10;AI-generated content may be incorrect.">
            <a:extLst>
              <a:ext uri="{FF2B5EF4-FFF2-40B4-BE49-F238E27FC236}">
                <a16:creationId xmlns:a16="http://schemas.microsoft.com/office/drawing/2014/main" id="{414B7E98-C397-2700-8243-6FF05457F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14" y="2549602"/>
            <a:ext cx="11182350" cy="3512313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37374361-F806-A2D1-3D16-23402488A1CB}"/>
              </a:ext>
            </a:extLst>
          </p:cNvPr>
          <p:cNvSpPr/>
          <p:nvPr/>
        </p:nvSpPr>
        <p:spPr>
          <a:xfrm>
            <a:off x="276791" y="1216035"/>
            <a:ext cx="11253016" cy="91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This represents the </a:t>
            </a:r>
            <a:r>
              <a:rPr lang="en-US" sz="1600" b="1">
                <a:solidFill>
                  <a:schemeClr val="bg1"/>
                </a:solidFill>
                <a:ea typeface="+mn-lt"/>
                <a:cs typeface="+mn-lt"/>
              </a:rPr>
              <a:t>Workflow Engine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(acting as a system actor) starting and running a workflow instance.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954455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28C55-FB41-F844-A76C-F26771DEC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E9758A-02E4-A459-41CB-7045C80C6A3B}"/>
              </a:ext>
            </a:extLst>
          </p:cNvPr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51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04 / Robustness Diagrams</a:t>
            </a:r>
            <a:endParaRPr lang="en-US" sz="100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CA70ED-7222-82E5-1635-A1F6AE037649}"/>
              </a:ext>
            </a:extLst>
          </p:cNvPr>
          <p:cNvSpPr/>
          <p:nvPr/>
        </p:nvSpPr>
        <p:spPr>
          <a:xfrm>
            <a:off x="368617" y="626649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>
                <a:solidFill>
                  <a:srgbClr val="E0E6EB"/>
                </a:solidFill>
                <a:latin typeface="Liter"/>
              </a:rPr>
              <a:t>5. Robustness Diagram - Evaluate Conditions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diagram of a performance control&#10;&#10;AI-generated content may be incorrect.">
            <a:extLst>
              <a:ext uri="{FF2B5EF4-FFF2-40B4-BE49-F238E27FC236}">
                <a16:creationId xmlns:a16="http://schemas.microsoft.com/office/drawing/2014/main" id="{14BF37B1-4023-8D11-5A67-53BFD9F27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14" y="2806663"/>
            <a:ext cx="11182350" cy="2814579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7834A756-C4C4-E7DB-E021-956C9B3A979C}"/>
              </a:ext>
            </a:extLst>
          </p:cNvPr>
          <p:cNvSpPr/>
          <p:nvPr/>
        </p:nvSpPr>
        <p:spPr>
          <a:xfrm>
            <a:off x="276791" y="1216035"/>
            <a:ext cx="11253016" cy="91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bg1"/>
                </a:solidFill>
                <a:latin typeface="Quattrocento Sans"/>
                <a:ea typeface="+mn-lt"/>
                <a:cs typeface="+mn-lt"/>
              </a:rPr>
              <a:t>This is a logic-heavy use case where the engine determines the path between steps based on runtime data.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80362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EBAD5-4ED4-C078-3B93-AFFC738F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9E9483-BF65-A697-BBDB-34EC875445A8}"/>
              </a:ext>
            </a:extLst>
          </p:cNvPr>
          <p:cNvSpPr/>
          <p:nvPr/>
        </p:nvSpPr>
        <p:spPr>
          <a:xfrm>
            <a:off x="368617" y="368617"/>
            <a:ext cx="11519274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51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04 / Robustness Diagrams</a:t>
            </a:r>
            <a:endParaRPr lang="en-US" sz="100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66A87C-981F-E1BF-A4E4-730FDB9A66FA}"/>
              </a:ext>
            </a:extLst>
          </p:cNvPr>
          <p:cNvSpPr/>
          <p:nvPr/>
        </p:nvSpPr>
        <p:spPr>
          <a:xfrm>
            <a:off x="368617" y="626649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0" b="1">
                <a:solidFill>
                  <a:srgbClr val="E0E6EB"/>
                </a:solidFill>
                <a:latin typeface="Liter"/>
              </a:rPr>
              <a:t>6. Robustness Diagram - Extend Workflow Engine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771E7-D493-FF74-6028-B43F3F5C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20" y="2359561"/>
            <a:ext cx="11255565" cy="3020228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0E0BD4A1-C0BC-6E8E-D376-9EA18D7795BD}"/>
              </a:ext>
            </a:extLst>
          </p:cNvPr>
          <p:cNvSpPr/>
          <p:nvPr/>
        </p:nvSpPr>
        <p:spPr>
          <a:xfrm>
            <a:off x="276791" y="1216035"/>
            <a:ext cx="11253016" cy="91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chemeClr val="bg1"/>
                </a:solidFill>
                <a:latin typeface="Quattrocento Sans"/>
                <a:ea typeface="+mn-lt"/>
                <a:cs typeface="+mn-lt"/>
              </a:rPr>
              <a:t>This shows the System Administrator adding a new step type (a key requirement for your "Extensible" engine).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7385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9E47A-E4B2-3940-52EC-0D47D662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A65AA6-F902-03AF-78C2-EDBAF2E034A8}"/>
              </a:ext>
            </a:extLst>
          </p:cNvPr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03 / Domain Class Diagram</a:t>
            </a:r>
            <a:endParaRPr lang="en-US" sz="95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467F5F-54FC-C3C5-0C76-1731CF67AEB0}"/>
              </a:ext>
            </a:extLst>
          </p:cNvPr>
          <p:cNvSpPr/>
          <p:nvPr/>
        </p:nvSpPr>
        <p:spPr>
          <a:xfrm>
            <a:off x="367309" y="610498"/>
            <a:ext cx="4171048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Domain Class Model</a:t>
            </a:r>
            <a:endParaRPr lang="en-US" sz="2500" b="1" dirty="0">
              <a:solidFill>
                <a:srgbClr val="E0E6EB"/>
              </a:solidFill>
              <a:latin typeface="Liter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21B11C1-3EB9-106D-A308-8610DDFA892F}"/>
              </a:ext>
            </a:extLst>
          </p:cNvPr>
          <p:cNvSpPr/>
          <p:nvPr/>
        </p:nvSpPr>
        <p:spPr>
          <a:xfrm>
            <a:off x="-397" y="1141040"/>
            <a:ext cx="4523922" cy="5511624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7C5DFA28-545A-AD3F-29C4-03B527852E98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006BBA76-744E-2628-76F2-1BF413F4C550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Domain Class</a:t>
            </a: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E34D7A57-50D0-2D1C-EC13-DEE196849668}"/>
              </a:ext>
            </a:extLst>
          </p:cNvPr>
          <p:cNvSpPr/>
          <p:nvPr/>
        </p:nvSpPr>
        <p:spPr>
          <a:xfrm>
            <a:off x="193177" y="1458388"/>
            <a:ext cx="4266683" cy="479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The domain model represents an extensible workflow engine that </a:t>
            </a:r>
            <a:r>
              <a:rPr lang="en-US" sz="110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separates workflow definition from runtime execution.</a:t>
            </a:r>
            <a:endParaRPr lang="en-US" sz="110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 A Workflow defines a business process composed of multiple Steps and Transitions, with an </a:t>
            </a: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initialStep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marking the execution entry point. </a:t>
            </a:r>
            <a:endParaRPr lang="en-US" sz="110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Steps are abstract and specialized into </a:t>
            </a: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TaskStep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for executable actions and </a:t>
            </a: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DecisionStep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for conditional branching. Because steps and transitions define workflow structure, they are modeled using composition.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At runtime, a </a:t>
            </a: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WorkflowInstance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represents a single execution and owns its </a:t>
            </a: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ExecutionContext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and multiple </a:t>
            </a: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StepExecution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records. </a:t>
            </a: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StepExecution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tracks the state of individual steps while referencing the Step definition. </a:t>
            </a:r>
            <a:endParaRPr lang="en-US" sz="110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40000"/>
              </a:lnSpc>
              <a:buFont typeface="Arial"/>
              <a:buChar char="•"/>
            </a:pP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ExecutionStatus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and </a:t>
            </a:r>
            <a:r>
              <a:rPr lang="en-US" sz="1100" dirty="0" err="1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ExecutionState</a:t>
            </a:r>
            <a:r>
              <a:rPr lang="en-US" sz="110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 enumerations standardize lifecycle tracking. The model captures workflow structure, execution behavior, and conditional flow while maintaining extensibility and adhering to object-oriented analysis principles</a:t>
            </a:r>
            <a:r>
              <a:rPr lang="en-US" sz="1150" dirty="0">
                <a:solidFill>
                  <a:schemeClr val="bg1"/>
                </a:solidFill>
                <a:latin typeface="Quattrocento Sans"/>
                <a:ea typeface="Calibri" panose="020F0502020204030204"/>
                <a:cs typeface="Calibri" panose="020F0502020204030204"/>
              </a:rPr>
              <a:t>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15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4" name="Picture 3" descr="A diagram of a workflow&#10;&#10;AI-generated content may be incorrect.">
            <a:extLst>
              <a:ext uri="{FF2B5EF4-FFF2-40B4-BE49-F238E27FC236}">
                <a16:creationId xmlns:a16="http://schemas.microsoft.com/office/drawing/2014/main" id="{15729B76-E1CF-EF06-D879-5D286B28C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612" y="155472"/>
            <a:ext cx="7224967" cy="649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47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Extensible Workflow Engine</dc:title>
  <dc:subject>Extensible Workflow Engine</dc:subject>
  <dc:creator>Kimi</dc:creator>
  <cp:revision>90</cp:revision>
  <dcterms:created xsi:type="dcterms:W3CDTF">2026-01-29T23:32:49Z</dcterms:created>
  <dcterms:modified xsi:type="dcterms:W3CDTF">2026-02-19T17:29:18Z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{"Label":"Extensible Workflow Engine","ContentProducer":"001191110108MACG2KBH8F10000","ProduceID":"19c0c116-8862-83e1-8000-00000d2c23d4","ReservedCode1":"","ContentPropagator":"001191110108MACG2KBH8F20000","PropagateID":"19c0c116-8862-83e1-8000-00000d2c23d4","ReservedCode2":""}</vt:lpwstr>
  </property>
</Properties>
</file>